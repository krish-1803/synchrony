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million adults in the United States are credit invisible or carry thin files. Synchrony sits at the point of sale, so safely approving this segment grows merchant volume and customer lifetime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is a self-reinforcing cycle. No file means no approval, and no approval means no way to build a file. We break that cycle with data that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data models reach AUC between 0.63 and 0.77 for applicants where traditional models fail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Empirical implementations show approval rate uplift of 15 to 35 percent with no rise in baseline default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Spring Boot gateway validates and routes requests. pgvector retrieves similar historical cases with an HNSW cosine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contributions are additive, they sum back to the score logit. That satisfies local accuracy and consistency without post-hoc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mitigation spans pre-processing, in-processing and post-processing. The monitor flags any group that falls below 0.80 so strategy can recalibrate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runs end to end with seeded demo applicants. Every decision is reproducible from the stored features, attribution and audit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3333"/>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33333"/>
          </a:solidFill>
          <a:ln/>
        </p:spPr>
      </p:sp>
      <p:sp>
        <p:nvSpPr>
          <p:cNvPr id="3" name="Shape 1"/>
          <p:cNvSpPr/>
          <p:nvPr/>
        </p:nvSpPr>
        <p:spPr>
          <a:xfrm>
            <a:off x="8778240" y="-1097280"/>
            <a:ext cx="4754880" cy="4754880"/>
          </a:xfrm>
          <a:prstGeom prst="roundRect">
            <a:avLst>
              <a:gd name="adj" fmla="val 3846"/>
            </a:avLst>
          </a:prstGeom>
          <a:solidFill>
            <a:srgbClr val="FFC220">
              <a:alpha val="18000"/>
            </a:srgbClr>
          </a:solidFill>
          <a:ln/>
        </p:spPr>
      </p:sp>
      <p:sp>
        <p:nvSpPr>
          <p:cNvPr id="4" name="Shape 2"/>
          <p:cNvSpPr/>
          <p:nvPr/>
        </p:nvSpPr>
        <p:spPr>
          <a:xfrm>
            <a:off x="9875520" y="2926080"/>
            <a:ext cx="4754880" cy="4754880"/>
          </a:xfrm>
          <a:prstGeom prst="roundRect">
            <a:avLst>
              <a:gd name="adj" fmla="val 3846"/>
            </a:avLst>
          </a:prstGeom>
          <a:solidFill>
            <a:srgbClr val="FFC220">
              <a:alpha val="12000"/>
            </a:srgbClr>
          </a:solidFill>
          <a:ln/>
        </p:spPr>
      </p:sp>
      <p:sp>
        <p:nvSpPr>
          <p:cNvPr id="5" name="Shape 3"/>
          <p:cNvSpPr/>
          <p:nvPr/>
        </p:nvSpPr>
        <p:spPr>
          <a:xfrm>
            <a:off x="640080" y="548640"/>
            <a:ext cx="384048" cy="384048"/>
          </a:xfrm>
          <a:prstGeom prst="roundRect">
            <a:avLst>
              <a:gd name="adj" fmla="val 16667"/>
            </a:avLst>
          </a:prstGeom>
          <a:solidFill>
            <a:srgbClr val="FFC220"/>
          </a:solidFill>
          <a:ln/>
        </p:spPr>
      </p:sp>
      <p:sp>
        <p:nvSpPr>
          <p:cNvPr id="6" name="Text 4"/>
          <p:cNvSpPr txBox="1"/>
          <p:nvPr/>
        </p:nvSpPr>
        <p:spPr>
          <a:xfrm>
            <a:off x="640080" y="54864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7" name="Text 5"/>
          <p:cNvSpPr txBox="1"/>
          <p:nvPr/>
        </p:nvSpPr>
        <p:spPr>
          <a:xfrm>
            <a:off x="1097280" y="548640"/>
            <a:ext cx="5486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8" name="Text 6"/>
          <p:cNvSpPr txBox="1"/>
          <p:nvPr/>
        </p:nvSpPr>
        <p:spPr>
          <a:xfrm>
            <a:off x="640080" y="2286000"/>
            <a:ext cx="10058400" cy="365760"/>
          </a:xfrm>
          <a:prstGeom prst="rect">
            <a:avLst/>
          </a:prstGeom>
          <a:noFill/>
          <a:ln/>
        </p:spPr>
        <p:txBody>
          <a:bodyPr wrap="square" lIns="0" tIns="0" rIns="0" bIns="0" rtlCol="0" anchor="ctr"/>
          <a:lstStyle/>
          <a:p>
            <a:pPr indent="0" marL="0">
              <a:buNone/>
            </a:pPr>
            <a:r>
              <a:rPr lang="en-US" sz="1600" b="1" spc="300" kern="0" dirty="0">
                <a:solidFill>
                  <a:srgbClr val="FFC220"/>
                </a:solidFill>
                <a:latin typeface="Calibri" pitchFamily="34" charset="0"/>
                <a:ea typeface="Calibri" pitchFamily="34" charset="-122"/>
                <a:cs typeface="Calibri" pitchFamily="34" charset="-120"/>
              </a:rPr>
              <a:t>AI-POWERED FINANCIAL INCLUSION</a:t>
            </a:r>
            <a:endParaRPr lang="en-US" sz="1600" dirty="0"/>
          </a:p>
        </p:txBody>
      </p:sp>
      <p:sp>
        <p:nvSpPr>
          <p:cNvPr id="9" name="Text 7"/>
          <p:cNvSpPr txBox="1"/>
          <p:nvPr/>
        </p:nvSpPr>
        <p:spPr>
          <a:xfrm>
            <a:off x="640080" y="2697480"/>
            <a:ext cx="10515600" cy="1463040"/>
          </a:xfrm>
          <a:prstGeom prst="rect">
            <a:avLst/>
          </a:prstGeom>
          <a:noFill/>
          <a:ln/>
        </p:spPr>
        <p:txBody>
          <a:bodyPr wrap="square" lIns="0" tIns="0" rIns="0" bIns="0" rtlCol="0" anchor="ctr"/>
          <a:lstStyle/>
          <a:p>
            <a:pPr indent="0" marL="0">
              <a:lnSpc>
                <a:spcPct val="100000"/>
              </a:lnSpc>
              <a:buNone/>
            </a:pPr>
            <a:r>
              <a:rPr lang="en-US" sz="4400" b="1" dirty="0">
                <a:solidFill>
                  <a:srgbClr val="FFFFFF"/>
                </a:solidFill>
                <a:latin typeface="Calibri" pitchFamily="34" charset="0"/>
                <a:ea typeface="Calibri" pitchFamily="34" charset="-122"/>
                <a:cs typeface="Calibri" pitchFamily="34" charset="-120"/>
              </a:rPr>
              <a:t>Dynamic Risk Assessment for Underserved Segments</a:t>
            </a:r>
            <a:endParaRPr lang="en-US" sz="4400" dirty="0"/>
          </a:p>
        </p:txBody>
      </p:sp>
      <p:sp>
        <p:nvSpPr>
          <p:cNvPr id="10" name="Text 8"/>
          <p:cNvSpPr txBox="1"/>
          <p:nvPr/>
        </p:nvSpPr>
        <p:spPr>
          <a:xfrm>
            <a:off x="640080" y="4297680"/>
            <a:ext cx="8412480" cy="914400"/>
          </a:xfrm>
          <a:prstGeom prst="rect">
            <a:avLst/>
          </a:prstGeom>
          <a:noFill/>
          <a:ln/>
        </p:spPr>
        <p:txBody>
          <a:bodyPr wrap="square" lIns="0" tIns="0" rIns="0" bIns="0" rtlCol="0" anchor="ctr"/>
          <a:lstStyle/>
          <a:p>
            <a:pPr indent="0" marL="0">
              <a:buNone/>
            </a:pPr>
            <a:r>
              <a:rPr lang="en-US" sz="1600" dirty="0">
                <a:solidFill>
                  <a:srgbClr val="D7D7D7"/>
                </a:solidFill>
                <a:latin typeface="Calibri" pitchFamily="34" charset="0"/>
                <a:ea typeface="Calibri" pitchFamily="34" charset="-122"/>
                <a:cs typeface="Calibri" pitchFamily="34" charset="-120"/>
              </a:rPr>
              <a:t>Fair and accurate credit for thin-file and unbanked applicants, using alternative data and explainable AI on the Synchrony 300 to 850 band.</a:t>
            </a:r>
            <a:endParaRPr lang="en-US" sz="1600" dirty="0"/>
          </a:p>
        </p:txBody>
      </p:sp>
      <p:sp>
        <p:nvSpPr>
          <p:cNvPr id="11" name="Shape 9"/>
          <p:cNvSpPr/>
          <p:nvPr/>
        </p:nvSpPr>
        <p:spPr>
          <a:xfrm>
            <a:off x="640080" y="5486400"/>
            <a:ext cx="2240280" cy="457200"/>
          </a:xfrm>
          <a:prstGeom prst="roundRect">
            <a:avLst>
              <a:gd name="adj" fmla="val 50000"/>
            </a:avLst>
          </a:prstGeom>
          <a:solidFill>
            <a:srgbClr val="FFFFFF">
              <a:alpha val="12000"/>
            </a:srgbClr>
          </a:solidFill>
          <a:ln w="12700">
            <a:solidFill>
              <a:srgbClr val="FFC220"/>
            </a:solidFill>
            <a:prstDash val="solid"/>
          </a:ln>
        </p:spPr>
      </p:sp>
      <p:sp>
        <p:nvSpPr>
          <p:cNvPr id="12" name="Text 10"/>
          <p:cNvSpPr txBox="1"/>
          <p:nvPr/>
        </p:nvSpPr>
        <p:spPr>
          <a:xfrm>
            <a:off x="640080" y="5486400"/>
            <a:ext cx="2240280" cy="457200"/>
          </a:xfrm>
          <a:prstGeom prst="rect">
            <a:avLst/>
          </a:prstGeom>
          <a:noFill/>
          <a:ln/>
        </p:spPr>
        <p:txBody>
          <a:bodyPr wrap="square" lIns="0" tIns="0" rIns="0" bIns="0" rtlCol="0" anchor="ctr"/>
          <a:lstStyle/>
          <a:p>
            <a:pPr algn="ctr" indent="0" marL="0">
              <a:buNone/>
            </a:pPr>
            <a:r>
              <a:rPr lang="en-US" sz="1200" b="1" dirty="0">
                <a:solidFill>
                  <a:srgbClr val="FFC220"/>
                </a:solidFill>
                <a:latin typeface="Calibri" pitchFamily="34" charset="0"/>
                <a:ea typeface="Calibri" pitchFamily="34" charset="-122"/>
                <a:cs typeface="Calibri" pitchFamily="34" charset="-120"/>
              </a:rPr>
              <a:t>Alternative data</a:t>
            </a:r>
            <a:endParaRPr lang="en-US" sz="1200" dirty="0"/>
          </a:p>
        </p:txBody>
      </p:sp>
      <p:sp>
        <p:nvSpPr>
          <p:cNvPr id="13" name="Shape 11"/>
          <p:cNvSpPr/>
          <p:nvPr/>
        </p:nvSpPr>
        <p:spPr>
          <a:xfrm>
            <a:off x="3063240" y="5486400"/>
            <a:ext cx="2240280" cy="457200"/>
          </a:xfrm>
          <a:prstGeom prst="roundRect">
            <a:avLst>
              <a:gd name="adj" fmla="val 50000"/>
            </a:avLst>
          </a:prstGeom>
          <a:solidFill>
            <a:srgbClr val="FFFFFF">
              <a:alpha val="12000"/>
            </a:srgbClr>
          </a:solidFill>
          <a:ln w="12700">
            <a:solidFill>
              <a:srgbClr val="FFC220"/>
            </a:solidFill>
            <a:prstDash val="solid"/>
          </a:ln>
        </p:spPr>
      </p:sp>
      <p:sp>
        <p:nvSpPr>
          <p:cNvPr id="14" name="Text 12"/>
          <p:cNvSpPr txBox="1"/>
          <p:nvPr/>
        </p:nvSpPr>
        <p:spPr>
          <a:xfrm>
            <a:off x="3063240" y="5486400"/>
            <a:ext cx="2240280" cy="457200"/>
          </a:xfrm>
          <a:prstGeom prst="rect">
            <a:avLst/>
          </a:prstGeom>
          <a:noFill/>
          <a:ln/>
        </p:spPr>
        <p:txBody>
          <a:bodyPr wrap="square" lIns="0" tIns="0" rIns="0" bIns="0" rtlCol="0" anchor="ctr"/>
          <a:lstStyle/>
          <a:p>
            <a:pPr algn="ctr" indent="0" marL="0">
              <a:buNone/>
            </a:pPr>
            <a:r>
              <a:rPr lang="en-US" sz="1200" b="1" dirty="0">
                <a:solidFill>
                  <a:srgbClr val="FFC220"/>
                </a:solidFill>
                <a:latin typeface="Calibri" pitchFamily="34" charset="0"/>
                <a:ea typeface="Calibri" pitchFamily="34" charset="-122"/>
                <a:cs typeface="Calibri" pitchFamily="34" charset="-120"/>
              </a:rPr>
              <a:t>Explainable AI</a:t>
            </a:r>
            <a:endParaRPr lang="en-US" sz="1200" dirty="0"/>
          </a:p>
        </p:txBody>
      </p:sp>
      <p:sp>
        <p:nvSpPr>
          <p:cNvPr id="15" name="Shape 13"/>
          <p:cNvSpPr/>
          <p:nvPr/>
        </p:nvSpPr>
        <p:spPr>
          <a:xfrm>
            <a:off x="5486400" y="5486400"/>
            <a:ext cx="2240280" cy="457200"/>
          </a:xfrm>
          <a:prstGeom prst="roundRect">
            <a:avLst>
              <a:gd name="adj" fmla="val 50000"/>
            </a:avLst>
          </a:prstGeom>
          <a:solidFill>
            <a:srgbClr val="FFFFFF">
              <a:alpha val="12000"/>
            </a:srgbClr>
          </a:solidFill>
          <a:ln w="12700">
            <a:solidFill>
              <a:srgbClr val="FFC220"/>
            </a:solidFill>
            <a:prstDash val="solid"/>
          </a:ln>
        </p:spPr>
      </p:sp>
      <p:sp>
        <p:nvSpPr>
          <p:cNvPr id="16" name="Text 14"/>
          <p:cNvSpPr txBox="1"/>
          <p:nvPr/>
        </p:nvSpPr>
        <p:spPr>
          <a:xfrm>
            <a:off x="5486400" y="5486400"/>
            <a:ext cx="2240280" cy="457200"/>
          </a:xfrm>
          <a:prstGeom prst="rect">
            <a:avLst/>
          </a:prstGeom>
          <a:noFill/>
          <a:ln/>
        </p:spPr>
        <p:txBody>
          <a:bodyPr wrap="square" lIns="0" tIns="0" rIns="0" bIns="0" rtlCol="0" anchor="ctr"/>
          <a:lstStyle/>
          <a:p>
            <a:pPr algn="ctr" indent="0" marL="0">
              <a:buNone/>
            </a:pPr>
            <a:r>
              <a:rPr lang="en-US" sz="1200" b="1" dirty="0">
                <a:solidFill>
                  <a:srgbClr val="FFC220"/>
                </a:solidFill>
                <a:latin typeface="Calibri" pitchFamily="34" charset="0"/>
                <a:ea typeface="Calibri" pitchFamily="34" charset="-122"/>
                <a:cs typeface="Calibri" pitchFamily="34" charset="-120"/>
              </a:rPr>
              <a:t>Fair lending</a:t>
            </a:r>
            <a:endParaRPr lang="en-US" sz="1200" dirty="0"/>
          </a:p>
        </p:txBody>
      </p:sp>
      <p:sp>
        <p:nvSpPr>
          <p:cNvPr id="17" name="Shape 15"/>
          <p:cNvSpPr/>
          <p:nvPr/>
        </p:nvSpPr>
        <p:spPr>
          <a:xfrm>
            <a:off x="7909560" y="5486400"/>
            <a:ext cx="2240280" cy="457200"/>
          </a:xfrm>
          <a:prstGeom prst="roundRect">
            <a:avLst>
              <a:gd name="adj" fmla="val 50000"/>
            </a:avLst>
          </a:prstGeom>
          <a:solidFill>
            <a:srgbClr val="FFFFFF">
              <a:alpha val="12000"/>
            </a:srgbClr>
          </a:solidFill>
          <a:ln w="12700">
            <a:solidFill>
              <a:srgbClr val="FFC220"/>
            </a:solidFill>
            <a:prstDash val="solid"/>
          </a:ln>
        </p:spPr>
      </p:sp>
      <p:sp>
        <p:nvSpPr>
          <p:cNvPr id="18" name="Text 16"/>
          <p:cNvSpPr txBox="1"/>
          <p:nvPr/>
        </p:nvSpPr>
        <p:spPr>
          <a:xfrm>
            <a:off x="7909560" y="5486400"/>
            <a:ext cx="2240280" cy="457200"/>
          </a:xfrm>
          <a:prstGeom prst="rect">
            <a:avLst/>
          </a:prstGeom>
          <a:noFill/>
          <a:ln/>
        </p:spPr>
        <p:txBody>
          <a:bodyPr wrap="square" lIns="0" tIns="0" rIns="0" bIns="0" rtlCol="0" anchor="ctr"/>
          <a:lstStyle/>
          <a:p>
            <a:pPr algn="ctr" indent="0" marL="0">
              <a:buNone/>
            </a:pPr>
            <a:r>
              <a:rPr lang="en-US" sz="1200" b="1" dirty="0">
                <a:solidFill>
                  <a:srgbClr val="FFC220"/>
                </a:solidFill>
                <a:latin typeface="Calibri" pitchFamily="34" charset="0"/>
                <a:ea typeface="Calibri" pitchFamily="34" charset="-122"/>
                <a:cs typeface="Calibri" pitchFamily="34" charset="-120"/>
              </a:rPr>
              <a:t>Audit ready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roundRect">
            <a:avLst>
              <a:gd name="adj" fmla="val 16667"/>
            </a:avLst>
          </a:prstGeom>
          <a:solidFill>
            <a:srgbClr val="FFC220"/>
          </a:solidFill>
          <a:ln/>
        </p:spPr>
      </p:sp>
      <p:sp>
        <p:nvSpPr>
          <p:cNvPr id="3" name="Text 1"/>
          <p:cNvSpPr txBox="1"/>
          <p:nvPr/>
        </p:nvSpPr>
        <p:spPr>
          <a:xfrm>
            <a:off x="457200" y="36576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4" name="Text 2"/>
          <p:cNvSpPr txBox="1"/>
          <p:nvPr/>
        </p:nvSpPr>
        <p:spPr>
          <a:xfrm>
            <a:off x="914400" y="365760"/>
            <a:ext cx="5486400" cy="38404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5" name="Text 3"/>
          <p:cNvSpPr txBox="1"/>
          <p:nvPr/>
        </p:nvSpPr>
        <p:spPr>
          <a:xfrm>
            <a:off x="457200" y="1051560"/>
            <a:ext cx="10972800" cy="27432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CHALLENGE</a:t>
            </a:r>
            <a:endParaRPr lang="en-US" sz="1200" dirty="0"/>
          </a:p>
        </p:txBody>
      </p:sp>
      <p:sp>
        <p:nvSpPr>
          <p:cNvPr id="6" name="Text 4"/>
          <p:cNvSpPr txBox="1"/>
          <p:nvPr/>
        </p:nvSpPr>
        <p:spPr>
          <a:xfrm>
            <a:off x="457200" y="1280160"/>
            <a:ext cx="11247120" cy="731520"/>
          </a:xfrm>
          <a:prstGeom prst="rect">
            <a:avLst/>
          </a:prstGeom>
          <a:noFill/>
          <a:ln/>
        </p:spPr>
        <p:txBody>
          <a:bodyPr wrap="square" lIns="0" tIns="0" rIns="0" bIns="0" rtlCol="0" anchor="ctr"/>
          <a:lstStyle/>
          <a:p>
            <a:pPr indent="0" marL="0">
              <a:buNone/>
            </a:pPr>
            <a:r>
              <a:rPr lang="en-US" sz="3400" b="1" dirty="0">
                <a:solidFill>
                  <a:srgbClr val="333333"/>
                </a:solidFill>
                <a:latin typeface="Calibri" pitchFamily="34" charset="0"/>
                <a:ea typeface="Calibri" pitchFamily="34" charset="-122"/>
                <a:cs typeface="Calibri" pitchFamily="34" charset="-120"/>
              </a:rPr>
              <a:t>Conventional scoring leaves creditworthy people behind</a:t>
            </a:r>
            <a:endParaRPr lang="en-US" sz="3400" dirty="0"/>
          </a:p>
        </p:txBody>
      </p:sp>
      <p:sp>
        <p:nvSpPr>
          <p:cNvPr id="7" name="Shape 5"/>
          <p:cNvSpPr/>
          <p:nvPr/>
        </p:nvSpPr>
        <p:spPr>
          <a:xfrm>
            <a:off x="457200" y="2286000"/>
            <a:ext cx="3566160" cy="3566160"/>
          </a:xfrm>
          <a:prstGeom prst="roundRect">
            <a:avLst>
              <a:gd name="adj" fmla="val 2051"/>
            </a:avLst>
          </a:prstGeom>
          <a:solidFill>
            <a:srgbClr val="333333"/>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8" name="Text 6"/>
          <p:cNvSpPr txBox="1"/>
          <p:nvPr/>
        </p:nvSpPr>
        <p:spPr>
          <a:xfrm>
            <a:off x="640080" y="2834640"/>
            <a:ext cx="3200400" cy="1097280"/>
          </a:xfrm>
          <a:prstGeom prst="rect">
            <a:avLst/>
          </a:prstGeom>
          <a:noFill/>
          <a:ln/>
        </p:spPr>
        <p:txBody>
          <a:bodyPr wrap="square" lIns="0" tIns="0" rIns="0" bIns="0" rtlCol="0" anchor="ctr"/>
          <a:lstStyle/>
          <a:p>
            <a:pPr indent="0" marL="0">
              <a:buNone/>
            </a:pPr>
            <a:r>
              <a:rPr lang="en-US" sz="6600" b="1" dirty="0">
                <a:solidFill>
                  <a:srgbClr val="FFC220"/>
                </a:solidFill>
                <a:latin typeface="Calibri" pitchFamily="34" charset="0"/>
                <a:ea typeface="Calibri" pitchFamily="34" charset="-122"/>
                <a:cs typeface="Calibri" pitchFamily="34" charset="-120"/>
              </a:rPr>
              <a:t>45M</a:t>
            </a:r>
            <a:endParaRPr lang="en-US" sz="6600" dirty="0"/>
          </a:p>
        </p:txBody>
      </p:sp>
      <p:sp>
        <p:nvSpPr>
          <p:cNvPr id="9" name="Text 7"/>
          <p:cNvSpPr txBox="1"/>
          <p:nvPr/>
        </p:nvSpPr>
        <p:spPr>
          <a:xfrm>
            <a:off x="640080" y="3931920"/>
            <a:ext cx="320040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adults in the United States are credit invisible or carry thin files</a:t>
            </a:r>
            <a:endParaRPr lang="en-US" sz="1500" dirty="0"/>
          </a:p>
        </p:txBody>
      </p:sp>
      <p:sp>
        <p:nvSpPr>
          <p:cNvPr id="10" name="Shape 8"/>
          <p:cNvSpPr/>
          <p:nvPr/>
        </p:nvSpPr>
        <p:spPr>
          <a:xfrm>
            <a:off x="4297680" y="2286000"/>
            <a:ext cx="3657600" cy="1600200"/>
          </a:xfrm>
          <a:prstGeom prst="roundRect">
            <a:avLst>
              <a:gd name="adj" fmla="val 4571"/>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1" name="Shape 9"/>
          <p:cNvSpPr/>
          <p:nvPr/>
        </p:nvSpPr>
        <p:spPr>
          <a:xfrm>
            <a:off x="4526280" y="2542032"/>
            <a:ext cx="457200" cy="457200"/>
          </a:xfrm>
          <a:prstGeom prst="roundRect">
            <a:avLst>
              <a:gd name="adj" fmla="val 20000"/>
            </a:avLst>
          </a:prstGeom>
          <a:solidFill>
            <a:srgbClr val="FFC220"/>
          </a:solidFill>
          <a:ln/>
        </p:spPr>
      </p:sp>
      <p:sp>
        <p:nvSpPr>
          <p:cNvPr id="12" name="Text 10"/>
          <p:cNvSpPr txBox="1"/>
          <p:nvPr/>
        </p:nvSpPr>
        <p:spPr>
          <a:xfrm>
            <a:off x="4526280" y="2542032"/>
            <a:ext cx="457200" cy="457200"/>
          </a:xfrm>
          <a:prstGeom prst="rect">
            <a:avLst/>
          </a:prstGeom>
          <a:noFill/>
          <a:ln/>
        </p:spPr>
        <p:txBody>
          <a:bodyPr wrap="square" lIns="0" tIns="0" rIns="0" bIns="0" rtlCol="0" anchor="ctr"/>
          <a:lstStyle/>
          <a:p>
            <a:pPr algn="ctr" indent="0" marL="0">
              <a:buNone/>
            </a:pPr>
            <a:r>
              <a:rPr lang="en-US" sz="1800" b="1" dirty="0">
                <a:solidFill>
                  <a:srgbClr val="333333"/>
                </a:solidFill>
                <a:latin typeface="Calibri" pitchFamily="34" charset="0"/>
                <a:ea typeface="Calibri" pitchFamily="34" charset="-122"/>
                <a:cs typeface="Calibri" pitchFamily="34" charset="-120"/>
              </a:rPr>
              <a:t>1</a:t>
            </a:r>
            <a:endParaRPr lang="en-US" sz="1800" dirty="0"/>
          </a:p>
        </p:txBody>
      </p:sp>
      <p:sp>
        <p:nvSpPr>
          <p:cNvPr id="13" name="Text 11"/>
          <p:cNvSpPr txBox="1"/>
          <p:nvPr/>
        </p:nvSpPr>
        <p:spPr>
          <a:xfrm>
            <a:off x="5120640" y="2487168"/>
            <a:ext cx="2743200" cy="36576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Bureau dependent</a:t>
            </a:r>
            <a:endParaRPr lang="en-US" sz="1600" dirty="0"/>
          </a:p>
        </p:txBody>
      </p:sp>
      <p:sp>
        <p:nvSpPr>
          <p:cNvPr id="14" name="Text 12"/>
          <p:cNvSpPr txBox="1"/>
          <p:nvPr/>
        </p:nvSpPr>
        <p:spPr>
          <a:xfrm>
            <a:off x="5120640" y="2852928"/>
            <a:ext cx="2743200" cy="91440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Legacy FICO and VantageScore models rely on trade lines and repayment history.</a:t>
            </a:r>
            <a:endParaRPr lang="en-US" sz="1250" dirty="0"/>
          </a:p>
        </p:txBody>
      </p:sp>
      <p:sp>
        <p:nvSpPr>
          <p:cNvPr id="15" name="Shape 13"/>
          <p:cNvSpPr/>
          <p:nvPr/>
        </p:nvSpPr>
        <p:spPr>
          <a:xfrm>
            <a:off x="8183880" y="2286000"/>
            <a:ext cx="3657600" cy="1600200"/>
          </a:xfrm>
          <a:prstGeom prst="roundRect">
            <a:avLst>
              <a:gd name="adj" fmla="val 4571"/>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6" name="Shape 14"/>
          <p:cNvSpPr/>
          <p:nvPr/>
        </p:nvSpPr>
        <p:spPr>
          <a:xfrm>
            <a:off x="8412480" y="2542032"/>
            <a:ext cx="457200" cy="457200"/>
          </a:xfrm>
          <a:prstGeom prst="roundRect">
            <a:avLst>
              <a:gd name="adj" fmla="val 20000"/>
            </a:avLst>
          </a:prstGeom>
          <a:solidFill>
            <a:srgbClr val="FFC220"/>
          </a:solidFill>
          <a:ln/>
        </p:spPr>
      </p:sp>
      <p:sp>
        <p:nvSpPr>
          <p:cNvPr id="17" name="Text 15"/>
          <p:cNvSpPr txBox="1"/>
          <p:nvPr/>
        </p:nvSpPr>
        <p:spPr>
          <a:xfrm>
            <a:off x="8412480" y="2542032"/>
            <a:ext cx="457200" cy="457200"/>
          </a:xfrm>
          <a:prstGeom prst="rect">
            <a:avLst/>
          </a:prstGeom>
          <a:noFill/>
          <a:ln/>
        </p:spPr>
        <p:txBody>
          <a:bodyPr wrap="square" lIns="0" tIns="0" rIns="0" bIns="0" rtlCol="0" anchor="ctr"/>
          <a:lstStyle/>
          <a:p>
            <a:pPr algn="ctr" indent="0" marL="0">
              <a:buNone/>
            </a:pPr>
            <a:r>
              <a:rPr lang="en-US" sz="1800" b="1" dirty="0">
                <a:solidFill>
                  <a:srgbClr val="333333"/>
                </a:solidFill>
                <a:latin typeface="Calibri" pitchFamily="34" charset="0"/>
                <a:ea typeface="Calibri" pitchFamily="34" charset="-122"/>
                <a:cs typeface="Calibri" pitchFamily="34" charset="-120"/>
              </a:rPr>
              <a:t>2</a:t>
            </a:r>
            <a:endParaRPr lang="en-US" sz="1800" dirty="0"/>
          </a:p>
        </p:txBody>
      </p:sp>
      <p:sp>
        <p:nvSpPr>
          <p:cNvPr id="18" name="Text 16"/>
          <p:cNvSpPr txBox="1"/>
          <p:nvPr/>
        </p:nvSpPr>
        <p:spPr>
          <a:xfrm>
            <a:off x="9006840" y="2487168"/>
            <a:ext cx="2743200" cy="36576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No file, high risk</a:t>
            </a:r>
            <a:endParaRPr lang="en-US" sz="1600" dirty="0"/>
          </a:p>
        </p:txBody>
      </p:sp>
      <p:sp>
        <p:nvSpPr>
          <p:cNvPr id="19" name="Text 17"/>
          <p:cNvSpPr txBox="1"/>
          <p:nvPr/>
        </p:nvSpPr>
        <p:spPr>
          <a:xfrm>
            <a:off x="9006840" y="2852928"/>
            <a:ext cx="2743200" cy="91440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Applicants with no record are treated as high risk by default.</a:t>
            </a:r>
            <a:endParaRPr lang="en-US" sz="1250" dirty="0"/>
          </a:p>
        </p:txBody>
      </p:sp>
      <p:sp>
        <p:nvSpPr>
          <p:cNvPr id="20" name="Shape 18"/>
          <p:cNvSpPr/>
          <p:nvPr/>
        </p:nvSpPr>
        <p:spPr>
          <a:xfrm>
            <a:off x="4297680" y="4069080"/>
            <a:ext cx="3657600" cy="1600200"/>
          </a:xfrm>
          <a:prstGeom prst="roundRect">
            <a:avLst>
              <a:gd name="adj" fmla="val 4571"/>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1" name="Shape 19"/>
          <p:cNvSpPr/>
          <p:nvPr/>
        </p:nvSpPr>
        <p:spPr>
          <a:xfrm>
            <a:off x="4526280" y="4325112"/>
            <a:ext cx="457200" cy="457200"/>
          </a:xfrm>
          <a:prstGeom prst="roundRect">
            <a:avLst>
              <a:gd name="adj" fmla="val 20000"/>
            </a:avLst>
          </a:prstGeom>
          <a:solidFill>
            <a:srgbClr val="FFC220"/>
          </a:solidFill>
          <a:ln/>
        </p:spPr>
      </p:sp>
      <p:sp>
        <p:nvSpPr>
          <p:cNvPr id="22" name="Text 20"/>
          <p:cNvSpPr txBox="1"/>
          <p:nvPr/>
        </p:nvSpPr>
        <p:spPr>
          <a:xfrm>
            <a:off x="4526280" y="4325112"/>
            <a:ext cx="457200" cy="457200"/>
          </a:xfrm>
          <a:prstGeom prst="rect">
            <a:avLst/>
          </a:prstGeom>
          <a:noFill/>
          <a:ln/>
        </p:spPr>
        <p:txBody>
          <a:bodyPr wrap="square" lIns="0" tIns="0" rIns="0" bIns="0" rtlCol="0" anchor="ctr"/>
          <a:lstStyle/>
          <a:p>
            <a:pPr algn="ctr" indent="0" marL="0">
              <a:buNone/>
            </a:pPr>
            <a:r>
              <a:rPr lang="en-US" sz="1800" b="1" dirty="0">
                <a:solidFill>
                  <a:srgbClr val="333333"/>
                </a:solidFill>
                <a:latin typeface="Calibri" pitchFamily="34" charset="0"/>
                <a:ea typeface="Calibri" pitchFamily="34" charset="-122"/>
                <a:cs typeface="Calibri" pitchFamily="34" charset="-120"/>
              </a:rPr>
              <a:t>3</a:t>
            </a:r>
            <a:endParaRPr lang="en-US" sz="1800" dirty="0"/>
          </a:p>
        </p:txBody>
      </p:sp>
      <p:sp>
        <p:nvSpPr>
          <p:cNvPr id="23" name="Text 21"/>
          <p:cNvSpPr txBox="1"/>
          <p:nvPr/>
        </p:nvSpPr>
        <p:spPr>
          <a:xfrm>
            <a:off x="5120640" y="4270248"/>
            <a:ext cx="2743200" cy="36576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Backward looking</a:t>
            </a:r>
            <a:endParaRPr lang="en-US" sz="1600" dirty="0"/>
          </a:p>
        </p:txBody>
      </p:sp>
      <p:sp>
        <p:nvSpPr>
          <p:cNvPr id="24" name="Text 22"/>
          <p:cNvSpPr txBox="1"/>
          <p:nvPr/>
        </p:nvSpPr>
        <p:spPr>
          <a:xfrm>
            <a:off x="5120640" y="4636008"/>
            <a:ext cx="2743200" cy="91440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Scorecards update on monthly batches and miss real-time cash flow.</a:t>
            </a:r>
            <a:endParaRPr lang="en-US" sz="1250" dirty="0"/>
          </a:p>
        </p:txBody>
      </p:sp>
      <p:sp>
        <p:nvSpPr>
          <p:cNvPr id="25" name="Shape 23"/>
          <p:cNvSpPr/>
          <p:nvPr/>
        </p:nvSpPr>
        <p:spPr>
          <a:xfrm>
            <a:off x="8183880" y="4069080"/>
            <a:ext cx="3657600" cy="1600200"/>
          </a:xfrm>
          <a:prstGeom prst="roundRect">
            <a:avLst>
              <a:gd name="adj" fmla="val 4571"/>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6" name="Shape 24"/>
          <p:cNvSpPr/>
          <p:nvPr/>
        </p:nvSpPr>
        <p:spPr>
          <a:xfrm>
            <a:off x="8412480" y="4325112"/>
            <a:ext cx="457200" cy="457200"/>
          </a:xfrm>
          <a:prstGeom prst="roundRect">
            <a:avLst>
              <a:gd name="adj" fmla="val 20000"/>
            </a:avLst>
          </a:prstGeom>
          <a:solidFill>
            <a:srgbClr val="FFC220"/>
          </a:solidFill>
          <a:ln/>
        </p:spPr>
      </p:sp>
      <p:sp>
        <p:nvSpPr>
          <p:cNvPr id="27" name="Text 25"/>
          <p:cNvSpPr txBox="1"/>
          <p:nvPr/>
        </p:nvSpPr>
        <p:spPr>
          <a:xfrm>
            <a:off x="8412480" y="4325112"/>
            <a:ext cx="457200" cy="457200"/>
          </a:xfrm>
          <a:prstGeom prst="rect">
            <a:avLst/>
          </a:prstGeom>
          <a:noFill/>
          <a:ln/>
        </p:spPr>
        <p:txBody>
          <a:bodyPr wrap="square" lIns="0" tIns="0" rIns="0" bIns="0" rtlCol="0" anchor="ctr"/>
          <a:lstStyle/>
          <a:p>
            <a:pPr algn="ctr" indent="0" marL="0">
              <a:buNone/>
            </a:pPr>
            <a:r>
              <a:rPr lang="en-US" sz="1800" b="1" dirty="0">
                <a:solidFill>
                  <a:srgbClr val="333333"/>
                </a:solidFill>
                <a:latin typeface="Calibri" pitchFamily="34" charset="0"/>
                <a:ea typeface="Calibri" pitchFamily="34" charset="-122"/>
                <a:cs typeface="Calibri" pitchFamily="34" charset="-120"/>
              </a:rPr>
              <a:t>4</a:t>
            </a:r>
            <a:endParaRPr lang="en-US" sz="1800" dirty="0"/>
          </a:p>
        </p:txBody>
      </p:sp>
      <p:sp>
        <p:nvSpPr>
          <p:cNvPr id="28" name="Text 26"/>
          <p:cNvSpPr txBox="1"/>
          <p:nvPr/>
        </p:nvSpPr>
        <p:spPr>
          <a:xfrm>
            <a:off x="9006840" y="4270248"/>
            <a:ext cx="2743200" cy="36576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Signals ignored</a:t>
            </a:r>
            <a:endParaRPr lang="en-US" sz="1600" dirty="0"/>
          </a:p>
        </p:txBody>
      </p:sp>
      <p:sp>
        <p:nvSpPr>
          <p:cNvPr id="29" name="Text 27"/>
          <p:cNvSpPr txBox="1"/>
          <p:nvPr/>
        </p:nvSpPr>
        <p:spPr>
          <a:xfrm>
            <a:off x="9006840" y="4636008"/>
            <a:ext cx="2743200" cy="91440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Recurring rent, utility and mobile money payments never count.</a:t>
            </a:r>
            <a:endParaRPr lang="en-US" sz="1250" dirty="0"/>
          </a:p>
        </p:txBody>
      </p:sp>
      <p:sp>
        <p:nvSpPr>
          <p:cNvPr id="30" name="Text 28"/>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5C5C5C"/>
                </a:solidFill>
                <a:latin typeface="Calibri" pitchFamily="34" charset="0"/>
                <a:ea typeface="Calibri" pitchFamily="34" charset="-122"/>
                <a:cs typeface="Calibri" pitchFamily="34" charset="-120"/>
              </a:rPr>
              <a:t>Synchrony Financial Inclusion</a:t>
            </a:r>
            <a:endParaRPr lang="en-US" sz="900" dirty="0"/>
          </a:p>
        </p:txBody>
      </p:sp>
      <p:sp>
        <p:nvSpPr>
          <p:cNvPr id="31" name="Text 29"/>
          <p:cNvSpPr txBox="1"/>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5C5C5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roundRect">
            <a:avLst>
              <a:gd name="adj" fmla="val 16667"/>
            </a:avLst>
          </a:prstGeom>
          <a:solidFill>
            <a:srgbClr val="FFC220"/>
          </a:solidFill>
          <a:ln/>
        </p:spPr>
      </p:sp>
      <p:sp>
        <p:nvSpPr>
          <p:cNvPr id="3" name="Text 1"/>
          <p:cNvSpPr txBox="1"/>
          <p:nvPr/>
        </p:nvSpPr>
        <p:spPr>
          <a:xfrm>
            <a:off x="457200" y="36576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4" name="Text 2"/>
          <p:cNvSpPr txBox="1"/>
          <p:nvPr/>
        </p:nvSpPr>
        <p:spPr>
          <a:xfrm>
            <a:off x="914400" y="365760"/>
            <a:ext cx="5486400" cy="38404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5" name="Text 3"/>
          <p:cNvSpPr txBox="1"/>
          <p:nvPr/>
        </p:nvSpPr>
        <p:spPr>
          <a:xfrm>
            <a:off x="457200" y="1051560"/>
            <a:ext cx="10972800" cy="27432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DATA STRATEGY</a:t>
            </a:r>
            <a:endParaRPr lang="en-US" sz="1200" dirty="0"/>
          </a:p>
        </p:txBody>
      </p:sp>
      <p:sp>
        <p:nvSpPr>
          <p:cNvPr id="6" name="Text 4"/>
          <p:cNvSpPr txBox="1"/>
          <p:nvPr/>
        </p:nvSpPr>
        <p:spPr>
          <a:xfrm>
            <a:off x="457200" y="1280160"/>
            <a:ext cx="11247120" cy="731520"/>
          </a:xfrm>
          <a:prstGeom prst="rect">
            <a:avLst/>
          </a:prstGeom>
          <a:noFill/>
          <a:ln/>
        </p:spPr>
        <p:txBody>
          <a:bodyPr wrap="square" lIns="0" tIns="0" rIns="0" bIns="0" rtlCol="0" anchor="ctr"/>
          <a:lstStyle/>
          <a:p>
            <a:pPr indent="0" marL="0">
              <a:buNone/>
            </a:pPr>
            <a:r>
              <a:rPr lang="en-US" sz="3400" b="1" dirty="0">
                <a:solidFill>
                  <a:srgbClr val="333333"/>
                </a:solidFill>
                <a:latin typeface="Calibri" pitchFamily="34" charset="0"/>
                <a:ea typeface="Calibri" pitchFamily="34" charset="-122"/>
                <a:cs typeface="Calibri" pitchFamily="34" charset="-120"/>
              </a:rPr>
              <a:t>Responsibly leveraging alternative data</a:t>
            </a:r>
            <a:endParaRPr lang="en-US" sz="3400" dirty="0"/>
          </a:p>
        </p:txBody>
      </p:sp>
      <p:sp>
        <p:nvSpPr>
          <p:cNvPr id="7" name="Shape 5"/>
          <p:cNvSpPr/>
          <p:nvPr/>
        </p:nvSpPr>
        <p:spPr>
          <a:xfrm>
            <a:off x="457200" y="2194560"/>
            <a:ext cx="2651760" cy="2286000"/>
          </a:xfrm>
          <a:prstGeom prst="roundRect">
            <a:avLst>
              <a:gd name="adj" fmla="val 3200"/>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8" name="Shape 6"/>
          <p:cNvSpPr/>
          <p:nvPr/>
        </p:nvSpPr>
        <p:spPr>
          <a:xfrm>
            <a:off x="685800" y="2423160"/>
            <a:ext cx="548640" cy="548640"/>
          </a:xfrm>
          <a:prstGeom prst="ellipse">
            <a:avLst/>
          </a:prstGeom>
          <a:solidFill>
            <a:srgbClr val="FFC220"/>
          </a:solidFill>
          <a:ln/>
        </p:spPr>
      </p:sp>
      <p:sp>
        <p:nvSpPr>
          <p:cNvPr id="9" name="Text 7"/>
          <p:cNvSpPr txBox="1"/>
          <p:nvPr/>
        </p:nvSpPr>
        <p:spPr>
          <a:xfrm>
            <a:off x="685800" y="2423160"/>
            <a:ext cx="548640" cy="548640"/>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1</a:t>
            </a:r>
            <a:endParaRPr lang="en-US" sz="2000" dirty="0"/>
          </a:p>
        </p:txBody>
      </p:sp>
      <p:sp>
        <p:nvSpPr>
          <p:cNvPr id="10" name="Text 8"/>
          <p:cNvSpPr txBox="1"/>
          <p:nvPr/>
        </p:nvSpPr>
        <p:spPr>
          <a:xfrm>
            <a:off x="685800" y="3108960"/>
            <a:ext cx="2194560" cy="54864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Mobile money</a:t>
            </a:r>
            <a:endParaRPr lang="en-US" sz="1600" dirty="0"/>
          </a:p>
        </p:txBody>
      </p:sp>
      <p:sp>
        <p:nvSpPr>
          <p:cNvPr id="11" name="Text 9"/>
          <p:cNvSpPr txBox="1"/>
          <p:nvPr/>
        </p:nvSpPr>
        <p:spPr>
          <a:xfrm>
            <a:off x="685800" y="3611880"/>
            <a:ext cx="2240280" cy="822960"/>
          </a:xfrm>
          <a:prstGeom prst="rect">
            <a:avLst/>
          </a:prstGeom>
          <a:noFill/>
          <a:ln/>
        </p:spPr>
        <p:txBody>
          <a:bodyPr wrap="square" lIns="0" tIns="0" rIns="0" bIns="0" rtlCol="0" anchor="ctr"/>
          <a:lstStyle/>
          <a:p>
            <a:pPr indent="0" marL="0">
              <a:buNone/>
            </a:pPr>
            <a:r>
              <a:rPr lang="en-US" sz="1200" dirty="0">
                <a:solidFill>
                  <a:srgbClr val="5C5C5C"/>
                </a:solidFill>
                <a:latin typeface="Calibri" pitchFamily="34" charset="0"/>
                <a:ea typeface="Calibri" pitchFamily="34" charset="-122"/>
                <a:cs typeface="Calibri" pitchFamily="34" charset="-120"/>
              </a:rPr>
              <a:t>Inflow ratio, balance stability, settlement velocity and counterparty diversity.</a:t>
            </a:r>
            <a:endParaRPr lang="en-US" sz="1200" dirty="0"/>
          </a:p>
        </p:txBody>
      </p:sp>
      <p:sp>
        <p:nvSpPr>
          <p:cNvPr id="12" name="Shape 10"/>
          <p:cNvSpPr/>
          <p:nvPr/>
        </p:nvSpPr>
        <p:spPr>
          <a:xfrm>
            <a:off x="3319272" y="2194560"/>
            <a:ext cx="2651760" cy="2286000"/>
          </a:xfrm>
          <a:prstGeom prst="roundRect">
            <a:avLst>
              <a:gd name="adj" fmla="val 3200"/>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3" name="Shape 11"/>
          <p:cNvSpPr/>
          <p:nvPr/>
        </p:nvSpPr>
        <p:spPr>
          <a:xfrm>
            <a:off x="3547872" y="2423160"/>
            <a:ext cx="548640" cy="548640"/>
          </a:xfrm>
          <a:prstGeom prst="ellipse">
            <a:avLst/>
          </a:prstGeom>
          <a:solidFill>
            <a:srgbClr val="FFC220"/>
          </a:solidFill>
          <a:ln/>
        </p:spPr>
      </p:sp>
      <p:sp>
        <p:nvSpPr>
          <p:cNvPr id="14" name="Text 12"/>
          <p:cNvSpPr txBox="1"/>
          <p:nvPr/>
        </p:nvSpPr>
        <p:spPr>
          <a:xfrm>
            <a:off x="3547872" y="2423160"/>
            <a:ext cx="548640" cy="548640"/>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2</a:t>
            </a:r>
            <a:endParaRPr lang="en-US" sz="2000" dirty="0"/>
          </a:p>
        </p:txBody>
      </p:sp>
      <p:sp>
        <p:nvSpPr>
          <p:cNvPr id="15" name="Text 13"/>
          <p:cNvSpPr txBox="1"/>
          <p:nvPr/>
        </p:nvSpPr>
        <p:spPr>
          <a:xfrm>
            <a:off x="3547872" y="3108960"/>
            <a:ext cx="2194560" cy="54864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Utility and telecom</a:t>
            </a:r>
            <a:endParaRPr lang="en-US" sz="1600" dirty="0"/>
          </a:p>
        </p:txBody>
      </p:sp>
      <p:sp>
        <p:nvSpPr>
          <p:cNvPr id="16" name="Text 14"/>
          <p:cNvSpPr txBox="1"/>
          <p:nvPr/>
        </p:nvSpPr>
        <p:spPr>
          <a:xfrm>
            <a:off x="3547872" y="3611880"/>
            <a:ext cx="2240280" cy="822960"/>
          </a:xfrm>
          <a:prstGeom prst="rect">
            <a:avLst/>
          </a:prstGeom>
          <a:noFill/>
          <a:ln/>
        </p:spPr>
        <p:txBody>
          <a:bodyPr wrap="square" lIns="0" tIns="0" rIns="0" bIns="0" rtlCol="0" anchor="ctr"/>
          <a:lstStyle/>
          <a:p>
            <a:pPr indent="0" marL="0">
              <a:buNone/>
            </a:pPr>
            <a:r>
              <a:rPr lang="en-US" sz="1200" dirty="0">
                <a:solidFill>
                  <a:srgbClr val="5C5C5C"/>
                </a:solidFill>
                <a:latin typeface="Calibri" pitchFamily="34" charset="0"/>
                <a:ea typeface="Calibri" pitchFamily="34" charset="-122"/>
                <a:cs typeface="Calibri" pitchFamily="34" charset="-120"/>
              </a:rPr>
              <a:t>Payment punctuality and top-up consistency.</a:t>
            </a:r>
            <a:endParaRPr lang="en-US" sz="1200" dirty="0"/>
          </a:p>
        </p:txBody>
      </p:sp>
      <p:sp>
        <p:nvSpPr>
          <p:cNvPr id="17" name="Shape 15"/>
          <p:cNvSpPr/>
          <p:nvPr/>
        </p:nvSpPr>
        <p:spPr>
          <a:xfrm>
            <a:off x="6181344" y="2194560"/>
            <a:ext cx="2651760" cy="2286000"/>
          </a:xfrm>
          <a:prstGeom prst="roundRect">
            <a:avLst>
              <a:gd name="adj" fmla="val 3200"/>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8" name="Shape 16"/>
          <p:cNvSpPr/>
          <p:nvPr/>
        </p:nvSpPr>
        <p:spPr>
          <a:xfrm>
            <a:off x="6409944" y="2423160"/>
            <a:ext cx="548640" cy="548640"/>
          </a:xfrm>
          <a:prstGeom prst="ellipse">
            <a:avLst/>
          </a:prstGeom>
          <a:solidFill>
            <a:srgbClr val="FFC220"/>
          </a:solidFill>
          <a:ln/>
        </p:spPr>
      </p:sp>
      <p:sp>
        <p:nvSpPr>
          <p:cNvPr id="19" name="Text 17"/>
          <p:cNvSpPr txBox="1"/>
          <p:nvPr/>
        </p:nvSpPr>
        <p:spPr>
          <a:xfrm>
            <a:off x="6409944" y="2423160"/>
            <a:ext cx="548640" cy="548640"/>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3</a:t>
            </a:r>
            <a:endParaRPr lang="en-US" sz="2000" dirty="0"/>
          </a:p>
        </p:txBody>
      </p:sp>
      <p:sp>
        <p:nvSpPr>
          <p:cNvPr id="20" name="Text 18"/>
          <p:cNvSpPr txBox="1"/>
          <p:nvPr/>
        </p:nvSpPr>
        <p:spPr>
          <a:xfrm>
            <a:off x="6409944" y="3108960"/>
            <a:ext cx="2194560" cy="54864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App behavior</a:t>
            </a:r>
            <a:endParaRPr lang="en-US" sz="1600" dirty="0"/>
          </a:p>
        </p:txBody>
      </p:sp>
      <p:sp>
        <p:nvSpPr>
          <p:cNvPr id="21" name="Text 19"/>
          <p:cNvSpPr txBox="1"/>
          <p:nvPr/>
        </p:nvSpPr>
        <p:spPr>
          <a:xfrm>
            <a:off x="6409944" y="3611880"/>
            <a:ext cx="2240280" cy="822960"/>
          </a:xfrm>
          <a:prstGeom prst="rect">
            <a:avLst/>
          </a:prstGeom>
          <a:noFill/>
          <a:ln/>
        </p:spPr>
        <p:txBody>
          <a:bodyPr wrap="square" lIns="0" tIns="0" rIns="0" bIns="0" rtlCol="0" anchor="ctr"/>
          <a:lstStyle/>
          <a:p>
            <a:pPr indent="0" marL="0">
              <a:buNone/>
            </a:pPr>
            <a:r>
              <a:rPr lang="en-US" sz="1200" dirty="0">
                <a:solidFill>
                  <a:srgbClr val="5C5C5C"/>
                </a:solidFill>
                <a:latin typeface="Calibri" pitchFamily="34" charset="0"/>
                <a:ea typeface="Calibri" pitchFamily="34" charset="-122"/>
                <a:cs typeface="Calibri" pitchFamily="34" charset="-120"/>
              </a:rPr>
              <a:t>Typing stability, app diversity and session regularity.</a:t>
            </a:r>
            <a:endParaRPr lang="en-US" sz="1200" dirty="0"/>
          </a:p>
        </p:txBody>
      </p:sp>
      <p:sp>
        <p:nvSpPr>
          <p:cNvPr id="22" name="Shape 20"/>
          <p:cNvSpPr/>
          <p:nvPr/>
        </p:nvSpPr>
        <p:spPr>
          <a:xfrm>
            <a:off x="9043416" y="2194560"/>
            <a:ext cx="2651760" cy="2286000"/>
          </a:xfrm>
          <a:prstGeom prst="roundRect">
            <a:avLst>
              <a:gd name="adj" fmla="val 3200"/>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3" name="Shape 21"/>
          <p:cNvSpPr/>
          <p:nvPr/>
        </p:nvSpPr>
        <p:spPr>
          <a:xfrm>
            <a:off x="9272016" y="2423160"/>
            <a:ext cx="548640" cy="548640"/>
          </a:xfrm>
          <a:prstGeom prst="ellipse">
            <a:avLst/>
          </a:prstGeom>
          <a:solidFill>
            <a:srgbClr val="FFC220"/>
          </a:solidFill>
          <a:ln/>
        </p:spPr>
      </p:sp>
      <p:sp>
        <p:nvSpPr>
          <p:cNvPr id="24" name="Text 22"/>
          <p:cNvSpPr txBox="1"/>
          <p:nvPr/>
        </p:nvSpPr>
        <p:spPr>
          <a:xfrm>
            <a:off x="9272016" y="2423160"/>
            <a:ext cx="548640" cy="548640"/>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4</a:t>
            </a:r>
            <a:endParaRPr lang="en-US" sz="2000" dirty="0"/>
          </a:p>
        </p:txBody>
      </p:sp>
      <p:sp>
        <p:nvSpPr>
          <p:cNvPr id="25" name="Text 23"/>
          <p:cNvSpPr txBox="1"/>
          <p:nvPr/>
        </p:nvSpPr>
        <p:spPr>
          <a:xfrm>
            <a:off x="9272016" y="3108960"/>
            <a:ext cx="2194560" cy="54864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Transaction graph</a:t>
            </a:r>
            <a:endParaRPr lang="en-US" sz="1600" dirty="0"/>
          </a:p>
        </p:txBody>
      </p:sp>
      <p:sp>
        <p:nvSpPr>
          <p:cNvPr id="26" name="Text 24"/>
          <p:cNvSpPr txBox="1"/>
          <p:nvPr/>
        </p:nvSpPr>
        <p:spPr>
          <a:xfrm>
            <a:off x="9272016" y="3611880"/>
            <a:ext cx="2240280" cy="822960"/>
          </a:xfrm>
          <a:prstGeom prst="rect">
            <a:avLst/>
          </a:prstGeom>
          <a:noFill/>
          <a:ln/>
        </p:spPr>
        <p:txBody>
          <a:bodyPr wrap="square" lIns="0" tIns="0" rIns="0" bIns="0" rtlCol="0" anchor="ctr"/>
          <a:lstStyle/>
          <a:p>
            <a:pPr indent="0" marL="0">
              <a:buNone/>
            </a:pPr>
            <a:r>
              <a:rPr lang="en-US" sz="1200" dirty="0">
                <a:solidFill>
                  <a:srgbClr val="5C5C5C"/>
                </a:solidFill>
                <a:latin typeface="Calibri" pitchFamily="34" charset="0"/>
                <a:ea typeface="Calibri" pitchFamily="34" charset="-122"/>
                <a:cs typeface="Calibri" pitchFamily="34" charset="-120"/>
              </a:rPr>
              <a:t>Network stability and distance from fraud clusters.</a:t>
            </a:r>
            <a:endParaRPr lang="en-US" sz="1200" dirty="0"/>
          </a:p>
        </p:txBody>
      </p:sp>
      <p:sp>
        <p:nvSpPr>
          <p:cNvPr id="27" name="Shape 25"/>
          <p:cNvSpPr/>
          <p:nvPr/>
        </p:nvSpPr>
        <p:spPr>
          <a:xfrm>
            <a:off x="457200" y="4709160"/>
            <a:ext cx="11274552" cy="1234440"/>
          </a:xfrm>
          <a:prstGeom prst="roundRect">
            <a:avLst>
              <a:gd name="adj" fmla="val 5926"/>
            </a:avLst>
          </a:prstGeom>
          <a:solidFill>
            <a:srgbClr val="333333"/>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8" name="Text 26"/>
          <p:cNvSpPr txBox="1"/>
          <p:nvPr/>
        </p:nvSpPr>
        <p:spPr>
          <a:xfrm>
            <a:off x="685800" y="4892040"/>
            <a:ext cx="2743200" cy="274320"/>
          </a:xfrm>
          <a:prstGeom prst="rect">
            <a:avLst/>
          </a:prstGeom>
          <a:noFill/>
          <a:ln/>
        </p:spPr>
        <p:txBody>
          <a:bodyPr wrap="square" lIns="0" tIns="0" rIns="0" bIns="0" rtlCol="0" anchor="ctr"/>
          <a:lstStyle/>
          <a:p>
            <a:pPr indent="0" marL="0">
              <a:buNone/>
            </a:pPr>
            <a:r>
              <a:rPr lang="en-US" sz="1200" b="1" spc="200" kern="0" dirty="0">
                <a:solidFill>
                  <a:srgbClr val="FFC220"/>
                </a:solidFill>
                <a:latin typeface="Calibri" pitchFamily="34" charset="0"/>
                <a:ea typeface="Calibri" pitchFamily="34" charset="-122"/>
                <a:cs typeface="Calibri" pitchFamily="34" charset="-120"/>
              </a:rPr>
              <a:t>GOVERNANCE</a:t>
            </a:r>
            <a:endParaRPr lang="en-US" sz="1200" dirty="0"/>
          </a:p>
        </p:txBody>
      </p:sp>
      <p:sp>
        <p:nvSpPr>
          <p:cNvPr id="29" name="Text 27"/>
          <p:cNvSpPr txBox="1"/>
          <p:nvPr/>
        </p:nvSpPr>
        <p:spPr>
          <a:xfrm>
            <a:off x="685800" y="5193792"/>
            <a:ext cx="107899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Protected attributes are never used to score. </a:t>
            </a:r>
            <a:pPr indent="0" marL="0">
              <a:buNone/>
            </a:pPr>
            <a:r>
              <a:rPr lang="en-US" sz="1500" dirty="0">
                <a:solidFill>
                  <a:srgbClr val="D7D7D7"/>
                </a:solidFill>
                <a:latin typeface="Calibri" pitchFamily="34" charset="0"/>
                <a:ea typeface="Calibri" pitchFamily="34" charset="-122"/>
                <a:cs typeface="Calibri" pitchFamily="34" charset="-120"/>
              </a:rPr>
              <a:t>They are held only for fairness monitoring. PII is anonymized before any AI processing.</a:t>
            </a:r>
            <a:endParaRPr lang="en-US" sz="1500" dirty="0"/>
          </a:p>
        </p:txBody>
      </p:sp>
      <p:sp>
        <p:nvSpPr>
          <p:cNvPr id="30" name="Text 28"/>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5C5C5C"/>
                </a:solidFill>
                <a:latin typeface="Calibri" pitchFamily="34" charset="0"/>
                <a:ea typeface="Calibri" pitchFamily="34" charset="-122"/>
                <a:cs typeface="Calibri" pitchFamily="34" charset="-120"/>
              </a:rPr>
              <a:t>Synchrony Financial Inclusion</a:t>
            </a:r>
            <a:endParaRPr lang="en-US" sz="900" dirty="0"/>
          </a:p>
        </p:txBody>
      </p:sp>
      <p:sp>
        <p:nvSpPr>
          <p:cNvPr id="31" name="Text 29"/>
          <p:cNvSpPr txBox="1"/>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5C5C5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roundRect">
            <a:avLst>
              <a:gd name="adj" fmla="val 16667"/>
            </a:avLst>
          </a:prstGeom>
          <a:solidFill>
            <a:srgbClr val="FFC220"/>
          </a:solidFill>
          <a:ln/>
        </p:spPr>
      </p:sp>
      <p:sp>
        <p:nvSpPr>
          <p:cNvPr id="3" name="Text 1"/>
          <p:cNvSpPr txBox="1"/>
          <p:nvPr/>
        </p:nvSpPr>
        <p:spPr>
          <a:xfrm>
            <a:off x="457200" y="36576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4" name="Text 2"/>
          <p:cNvSpPr txBox="1"/>
          <p:nvPr/>
        </p:nvSpPr>
        <p:spPr>
          <a:xfrm>
            <a:off x="914400" y="365760"/>
            <a:ext cx="5486400" cy="38404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5" name="Text 3"/>
          <p:cNvSpPr txBox="1"/>
          <p:nvPr/>
        </p:nvSpPr>
        <p:spPr>
          <a:xfrm>
            <a:off x="457200" y="1051560"/>
            <a:ext cx="10972800" cy="27432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SYNCHRONY SOLUTION</a:t>
            </a:r>
            <a:endParaRPr lang="en-US" sz="1200" dirty="0"/>
          </a:p>
        </p:txBody>
      </p:sp>
      <p:sp>
        <p:nvSpPr>
          <p:cNvPr id="6" name="Text 4"/>
          <p:cNvSpPr txBox="1"/>
          <p:nvPr/>
        </p:nvSpPr>
        <p:spPr>
          <a:xfrm>
            <a:off x="457200" y="1280160"/>
            <a:ext cx="11247120" cy="731520"/>
          </a:xfrm>
          <a:prstGeom prst="rect">
            <a:avLst/>
          </a:prstGeom>
          <a:noFill/>
          <a:ln/>
        </p:spPr>
        <p:txBody>
          <a:bodyPr wrap="square" lIns="0" tIns="0" rIns="0" bIns="0" rtlCol="0" anchor="ctr"/>
          <a:lstStyle/>
          <a:p>
            <a:pPr indent="0" marL="0">
              <a:buNone/>
            </a:pPr>
            <a:r>
              <a:rPr lang="en-US" sz="3400" b="1" dirty="0">
                <a:solidFill>
                  <a:srgbClr val="333333"/>
                </a:solidFill>
                <a:latin typeface="Calibri" pitchFamily="34" charset="0"/>
                <a:ea typeface="Calibri" pitchFamily="34" charset="-122"/>
                <a:cs typeface="Calibri" pitchFamily="34" charset="-120"/>
              </a:rPr>
              <a:t>A scalable, explainable model for reliable risk insight</a:t>
            </a:r>
            <a:endParaRPr lang="en-US" sz="3400" dirty="0"/>
          </a:p>
        </p:txBody>
      </p:sp>
      <p:sp>
        <p:nvSpPr>
          <p:cNvPr id="7" name="Shape 5"/>
          <p:cNvSpPr/>
          <p:nvPr/>
        </p:nvSpPr>
        <p:spPr>
          <a:xfrm>
            <a:off x="457200" y="2240280"/>
            <a:ext cx="3611880" cy="1554480"/>
          </a:xfrm>
          <a:prstGeom prst="roundRect">
            <a:avLst>
              <a:gd name="adj" fmla="val 4706"/>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8" name="Text 6"/>
          <p:cNvSpPr txBox="1"/>
          <p:nvPr/>
        </p:nvSpPr>
        <p:spPr>
          <a:xfrm>
            <a:off x="731520" y="2441448"/>
            <a:ext cx="3108960" cy="411480"/>
          </a:xfrm>
          <a:prstGeom prst="rect">
            <a:avLst/>
          </a:prstGeom>
          <a:noFill/>
          <a:ln/>
        </p:spPr>
        <p:txBody>
          <a:bodyPr wrap="square" lIns="0" tIns="0" rIns="0" bIns="0" rtlCol="0" anchor="ctr"/>
          <a:lstStyle/>
          <a:p>
            <a:pPr indent="0" marL="0">
              <a:buNone/>
            </a:pPr>
            <a:r>
              <a:rPr lang="en-US" sz="1700" b="1" dirty="0">
                <a:solidFill>
                  <a:srgbClr val="333333"/>
                </a:solidFill>
                <a:latin typeface="Calibri" pitchFamily="34" charset="0"/>
                <a:ea typeface="Calibri" pitchFamily="34" charset="-122"/>
                <a:cs typeface="Calibri" pitchFamily="34" charset="-120"/>
              </a:rPr>
              <a:t>Hybrid score</a:t>
            </a:r>
            <a:endParaRPr lang="en-US" sz="1700" dirty="0"/>
          </a:p>
        </p:txBody>
      </p:sp>
      <p:sp>
        <p:nvSpPr>
          <p:cNvPr id="9" name="Text 7"/>
          <p:cNvSpPr txBox="1"/>
          <p:nvPr/>
        </p:nvSpPr>
        <p:spPr>
          <a:xfrm>
            <a:off x="731520" y="2880360"/>
            <a:ext cx="3108960" cy="82296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Blends traditional, alternative and network signals into one calibrated score.</a:t>
            </a:r>
            <a:endParaRPr lang="en-US" sz="1250" dirty="0"/>
          </a:p>
        </p:txBody>
      </p:sp>
      <p:sp>
        <p:nvSpPr>
          <p:cNvPr id="10" name="Shape 8"/>
          <p:cNvSpPr/>
          <p:nvPr/>
        </p:nvSpPr>
        <p:spPr>
          <a:xfrm>
            <a:off x="4297680" y="2240280"/>
            <a:ext cx="3611880" cy="1554480"/>
          </a:xfrm>
          <a:prstGeom prst="roundRect">
            <a:avLst>
              <a:gd name="adj" fmla="val 4706"/>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1" name="Text 9"/>
          <p:cNvSpPr txBox="1"/>
          <p:nvPr/>
        </p:nvSpPr>
        <p:spPr>
          <a:xfrm>
            <a:off x="4572000" y="2441448"/>
            <a:ext cx="3108960" cy="411480"/>
          </a:xfrm>
          <a:prstGeom prst="rect">
            <a:avLst/>
          </a:prstGeom>
          <a:noFill/>
          <a:ln/>
        </p:spPr>
        <p:txBody>
          <a:bodyPr wrap="square" lIns="0" tIns="0" rIns="0" bIns="0" rtlCol="0" anchor="ctr"/>
          <a:lstStyle/>
          <a:p>
            <a:pPr indent="0" marL="0">
              <a:buNone/>
            </a:pPr>
            <a:r>
              <a:rPr lang="en-US" sz="1700" b="1" dirty="0">
                <a:solidFill>
                  <a:srgbClr val="333333"/>
                </a:solidFill>
                <a:latin typeface="Calibri" pitchFamily="34" charset="0"/>
                <a:ea typeface="Calibri" pitchFamily="34" charset="-122"/>
                <a:cs typeface="Calibri" pitchFamily="34" charset="-120"/>
              </a:rPr>
              <a:t>Dynamic weighting</a:t>
            </a:r>
            <a:endParaRPr lang="en-US" sz="1700" dirty="0"/>
          </a:p>
        </p:txBody>
      </p:sp>
      <p:sp>
        <p:nvSpPr>
          <p:cNvPr id="12" name="Text 10"/>
          <p:cNvSpPr txBox="1"/>
          <p:nvPr/>
        </p:nvSpPr>
        <p:spPr>
          <a:xfrm>
            <a:off x="4572000" y="2880360"/>
            <a:ext cx="3108960" cy="82296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Weights reallocate automatically when a data group is missing.</a:t>
            </a:r>
            <a:endParaRPr lang="en-US" sz="1250" dirty="0"/>
          </a:p>
        </p:txBody>
      </p:sp>
      <p:sp>
        <p:nvSpPr>
          <p:cNvPr id="13" name="Shape 11"/>
          <p:cNvSpPr/>
          <p:nvPr/>
        </p:nvSpPr>
        <p:spPr>
          <a:xfrm>
            <a:off x="457200" y="3977640"/>
            <a:ext cx="3611880" cy="1554480"/>
          </a:xfrm>
          <a:prstGeom prst="roundRect">
            <a:avLst>
              <a:gd name="adj" fmla="val 4706"/>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4" name="Text 12"/>
          <p:cNvSpPr txBox="1"/>
          <p:nvPr/>
        </p:nvSpPr>
        <p:spPr>
          <a:xfrm>
            <a:off x="731520" y="4178808"/>
            <a:ext cx="3108960" cy="411480"/>
          </a:xfrm>
          <a:prstGeom prst="rect">
            <a:avLst/>
          </a:prstGeom>
          <a:noFill/>
          <a:ln/>
        </p:spPr>
        <p:txBody>
          <a:bodyPr wrap="square" lIns="0" tIns="0" rIns="0" bIns="0" rtlCol="0" anchor="ctr"/>
          <a:lstStyle/>
          <a:p>
            <a:pPr indent="0" marL="0">
              <a:buNone/>
            </a:pPr>
            <a:r>
              <a:rPr lang="en-US" sz="1700" b="1" dirty="0">
                <a:solidFill>
                  <a:srgbClr val="333333"/>
                </a:solidFill>
                <a:latin typeface="Calibri" pitchFamily="34" charset="0"/>
                <a:ea typeface="Calibri" pitchFamily="34" charset="-122"/>
                <a:cs typeface="Calibri" pitchFamily="34" charset="-120"/>
              </a:rPr>
              <a:t>Transparent drivers</a:t>
            </a:r>
            <a:endParaRPr lang="en-US" sz="1700" dirty="0"/>
          </a:p>
        </p:txBody>
      </p:sp>
      <p:sp>
        <p:nvSpPr>
          <p:cNvPr id="15" name="Text 13"/>
          <p:cNvSpPr txBox="1"/>
          <p:nvPr/>
        </p:nvSpPr>
        <p:spPr>
          <a:xfrm>
            <a:off x="731520" y="4617720"/>
            <a:ext cx="3108960" cy="82296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Every decision returns top positive and negative risk drivers.</a:t>
            </a:r>
            <a:endParaRPr lang="en-US" sz="1250" dirty="0"/>
          </a:p>
        </p:txBody>
      </p:sp>
      <p:sp>
        <p:nvSpPr>
          <p:cNvPr id="16" name="Shape 14"/>
          <p:cNvSpPr/>
          <p:nvPr/>
        </p:nvSpPr>
        <p:spPr>
          <a:xfrm>
            <a:off x="4297680" y="3977640"/>
            <a:ext cx="3611880" cy="1554480"/>
          </a:xfrm>
          <a:prstGeom prst="roundRect">
            <a:avLst>
              <a:gd name="adj" fmla="val 4706"/>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7" name="Text 15"/>
          <p:cNvSpPr txBox="1"/>
          <p:nvPr/>
        </p:nvSpPr>
        <p:spPr>
          <a:xfrm>
            <a:off x="4572000" y="4178808"/>
            <a:ext cx="3108960" cy="411480"/>
          </a:xfrm>
          <a:prstGeom prst="rect">
            <a:avLst/>
          </a:prstGeom>
          <a:noFill/>
          <a:ln/>
        </p:spPr>
        <p:txBody>
          <a:bodyPr wrap="square" lIns="0" tIns="0" rIns="0" bIns="0" rtlCol="0" anchor="ctr"/>
          <a:lstStyle/>
          <a:p>
            <a:pPr indent="0" marL="0">
              <a:buNone/>
            </a:pPr>
            <a:r>
              <a:rPr lang="en-US" sz="1700" b="1" dirty="0">
                <a:solidFill>
                  <a:srgbClr val="333333"/>
                </a:solidFill>
                <a:latin typeface="Calibri" pitchFamily="34" charset="0"/>
                <a:ea typeface="Calibri" pitchFamily="34" charset="-122"/>
                <a:cs typeface="Calibri" pitchFamily="34" charset="-120"/>
              </a:rPr>
              <a:t>Path to approval</a:t>
            </a:r>
            <a:endParaRPr lang="en-US" sz="1700" dirty="0"/>
          </a:p>
        </p:txBody>
      </p:sp>
      <p:sp>
        <p:nvSpPr>
          <p:cNvPr id="18" name="Text 16"/>
          <p:cNvSpPr txBox="1"/>
          <p:nvPr/>
        </p:nvSpPr>
        <p:spPr>
          <a:xfrm>
            <a:off x="4572000" y="4617720"/>
            <a:ext cx="3108960" cy="82296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Declines include concrete, feasible steps toward approval.</a:t>
            </a:r>
            <a:endParaRPr lang="en-US" sz="1250" dirty="0"/>
          </a:p>
        </p:txBody>
      </p:sp>
      <p:sp>
        <p:nvSpPr>
          <p:cNvPr id="19" name="Shape 17"/>
          <p:cNvSpPr/>
          <p:nvPr/>
        </p:nvSpPr>
        <p:spPr>
          <a:xfrm>
            <a:off x="8229600" y="2240280"/>
            <a:ext cx="3502152" cy="3566160"/>
          </a:xfrm>
          <a:prstGeom prst="roundRect">
            <a:avLst>
              <a:gd name="adj" fmla="val 2089"/>
            </a:avLst>
          </a:prstGeom>
          <a:solidFill>
            <a:srgbClr val="333333"/>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0" name="Text 18"/>
          <p:cNvSpPr txBox="1"/>
          <p:nvPr/>
        </p:nvSpPr>
        <p:spPr>
          <a:xfrm>
            <a:off x="8458200" y="2423160"/>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Business impact</a:t>
            </a:r>
            <a:endParaRPr lang="en-US" sz="1600" dirty="0"/>
          </a:p>
        </p:txBody>
      </p:sp>
      <p:sp>
        <p:nvSpPr>
          <p:cNvPr id="21" name="Text 19"/>
          <p:cNvSpPr txBox="1"/>
          <p:nvPr/>
        </p:nvSpPr>
        <p:spPr>
          <a:xfrm>
            <a:off x="8458200" y="2880360"/>
            <a:ext cx="3017520" cy="822960"/>
          </a:xfrm>
          <a:prstGeom prst="rect">
            <a:avLst/>
          </a:prstGeom>
          <a:noFill/>
          <a:ln/>
        </p:spPr>
        <p:txBody>
          <a:bodyPr wrap="square" lIns="0" tIns="0" rIns="0" bIns="0" rtlCol="0" anchor="ctr"/>
          <a:lstStyle/>
          <a:p>
            <a:pPr indent="0" marL="0">
              <a:buNone/>
            </a:pPr>
            <a:r>
              <a:rPr lang="en-US" sz="4000" b="1" dirty="0">
                <a:solidFill>
                  <a:srgbClr val="FFC220"/>
                </a:solidFill>
                <a:latin typeface="Calibri" pitchFamily="34" charset="0"/>
                <a:ea typeface="Calibri" pitchFamily="34" charset="-122"/>
                <a:cs typeface="Calibri" pitchFamily="34" charset="-120"/>
              </a:rPr>
              <a:t>15 to 35%</a:t>
            </a:r>
            <a:endParaRPr lang="en-US" sz="4000" dirty="0"/>
          </a:p>
        </p:txBody>
      </p:sp>
      <p:sp>
        <p:nvSpPr>
          <p:cNvPr id="22" name="Text 20"/>
          <p:cNvSpPr txBox="1"/>
          <p:nvPr/>
        </p:nvSpPr>
        <p:spPr>
          <a:xfrm>
            <a:off x="8458200" y="3657600"/>
            <a:ext cx="3063240" cy="822960"/>
          </a:xfrm>
          <a:prstGeom prst="rect">
            <a:avLst/>
          </a:prstGeom>
          <a:noFill/>
          <a:ln/>
        </p:spPr>
        <p:txBody>
          <a:bodyPr wrap="square" lIns="0" tIns="0" rIns="0" bIns="0" rtlCol="0" anchor="ctr"/>
          <a:lstStyle/>
          <a:p>
            <a:pPr indent="0" marL="0">
              <a:buNone/>
            </a:pPr>
            <a:r>
              <a:rPr lang="en-US" sz="1300" dirty="0">
                <a:solidFill>
                  <a:srgbClr val="D7D7D7"/>
                </a:solidFill>
                <a:latin typeface="Calibri" pitchFamily="34" charset="0"/>
                <a:ea typeface="Calibri" pitchFamily="34" charset="-122"/>
                <a:cs typeface="Calibri" pitchFamily="34" charset="-120"/>
              </a:rPr>
              <a:t>approval rate uplift with no rise in baseline default rates</a:t>
            </a:r>
            <a:endParaRPr lang="en-US" sz="1300" dirty="0"/>
          </a:p>
        </p:txBody>
      </p:sp>
      <p:sp>
        <p:nvSpPr>
          <p:cNvPr id="23" name="Text 21"/>
          <p:cNvSpPr txBox="1"/>
          <p:nvPr/>
        </p:nvSpPr>
        <p:spPr>
          <a:xfrm>
            <a:off x="8458200" y="4572000"/>
            <a:ext cx="301752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300 to 850</a:t>
            </a:r>
            <a:endParaRPr lang="en-US" sz="2600" dirty="0"/>
          </a:p>
        </p:txBody>
      </p:sp>
      <p:sp>
        <p:nvSpPr>
          <p:cNvPr id="24" name="Text 22"/>
          <p:cNvSpPr txBox="1"/>
          <p:nvPr/>
        </p:nvSpPr>
        <p:spPr>
          <a:xfrm>
            <a:off x="8458200" y="5120640"/>
            <a:ext cx="3063240" cy="548640"/>
          </a:xfrm>
          <a:prstGeom prst="rect">
            <a:avLst/>
          </a:prstGeom>
          <a:noFill/>
          <a:ln/>
        </p:spPr>
        <p:txBody>
          <a:bodyPr wrap="square" lIns="0" tIns="0" rIns="0" bIns="0" rtlCol="0" anchor="ctr"/>
          <a:lstStyle/>
          <a:p>
            <a:pPr indent="0" marL="0">
              <a:buNone/>
            </a:pPr>
            <a:r>
              <a:rPr lang="en-US" sz="1200" dirty="0">
                <a:solidFill>
                  <a:srgbClr val="D7D7D7"/>
                </a:solidFill>
                <a:latin typeface="Calibri" pitchFamily="34" charset="0"/>
                <a:ea typeface="Calibri" pitchFamily="34" charset="-122"/>
                <a:cs typeface="Calibri" pitchFamily="34" charset="-120"/>
              </a:rPr>
              <a:t>unified Synchrony risk band across products</a:t>
            </a:r>
            <a:endParaRPr lang="en-US" sz="1200" dirty="0"/>
          </a:p>
        </p:txBody>
      </p:sp>
      <p:sp>
        <p:nvSpPr>
          <p:cNvPr id="25" name="Text 23"/>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5C5C5C"/>
                </a:solidFill>
                <a:latin typeface="Calibri" pitchFamily="34" charset="0"/>
                <a:ea typeface="Calibri" pitchFamily="34" charset="-122"/>
                <a:cs typeface="Calibri" pitchFamily="34" charset="-120"/>
              </a:rPr>
              <a:t>Synchrony Financial Inclusion</a:t>
            </a:r>
            <a:endParaRPr lang="en-US" sz="900" dirty="0"/>
          </a:p>
        </p:txBody>
      </p:sp>
      <p:sp>
        <p:nvSpPr>
          <p:cNvPr id="26" name="Text 24"/>
          <p:cNvSpPr txBox="1"/>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5C5C5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roundRect">
            <a:avLst>
              <a:gd name="adj" fmla="val 16667"/>
            </a:avLst>
          </a:prstGeom>
          <a:solidFill>
            <a:srgbClr val="FFC220"/>
          </a:solidFill>
          <a:ln/>
        </p:spPr>
      </p:sp>
      <p:sp>
        <p:nvSpPr>
          <p:cNvPr id="3" name="Text 1"/>
          <p:cNvSpPr txBox="1"/>
          <p:nvPr/>
        </p:nvSpPr>
        <p:spPr>
          <a:xfrm>
            <a:off x="457200" y="36576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4" name="Text 2"/>
          <p:cNvSpPr txBox="1"/>
          <p:nvPr/>
        </p:nvSpPr>
        <p:spPr>
          <a:xfrm>
            <a:off x="914400" y="365760"/>
            <a:ext cx="5486400" cy="38404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5" name="Text 3"/>
          <p:cNvSpPr txBox="1"/>
          <p:nvPr/>
        </p:nvSpPr>
        <p:spPr>
          <a:xfrm>
            <a:off x="457200" y="1051560"/>
            <a:ext cx="10972800" cy="27432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SYSTEM ARCHITECTURE</a:t>
            </a:r>
            <a:endParaRPr lang="en-US" sz="1200" dirty="0"/>
          </a:p>
        </p:txBody>
      </p:sp>
      <p:sp>
        <p:nvSpPr>
          <p:cNvPr id="6" name="Text 4"/>
          <p:cNvSpPr txBox="1"/>
          <p:nvPr/>
        </p:nvSpPr>
        <p:spPr>
          <a:xfrm>
            <a:off x="457200" y="1280160"/>
            <a:ext cx="11247120" cy="731520"/>
          </a:xfrm>
          <a:prstGeom prst="rect">
            <a:avLst/>
          </a:prstGeom>
          <a:noFill/>
          <a:ln/>
        </p:spPr>
        <p:txBody>
          <a:bodyPr wrap="square" lIns="0" tIns="0" rIns="0" bIns="0" rtlCol="0" anchor="ctr"/>
          <a:lstStyle/>
          <a:p>
            <a:pPr indent="0" marL="0">
              <a:buNone/>
            </a:pPr>
            <a:r>
              <a:rPr lang="en-US" sz="3400" b="1" dirty="0">
                <a:solidFill>
                  <a:srgbClr val="333333"/>
                </a:solidFill>
                <a:latin typeface="Calibri" pitchFamily="34" charset="0"/>
                <a:ea typeface="Calibri" pitchFamily="34" charset="-122"/>
                <a:cs typeface="Calibri" pitchFamily="34" charset="-120"/>
              </a:rPr>
              <a:t>End-to-end technology stack</a:t>
            </a:r>
            <a:endParaRPr lang="en-US" sz="3400" dirty="0"/>
          </a:p>
        </p:txBody>
      </p:sp>
      <p:sp>
        <p:nvSpPr>
          <p:cNvPr id="7" name="Shape 5"/>
          <p:cNvSpPr/>
          <p:nvPr/>
        </p:nvSpPr>
        <p:spPr>
          <a:xfrm>
            <a:off x="457200" y="2194560"/>
            <a:ext cx="6949440" cy="804672"/>
          </a:xfrm>
          <a:prstGeom prst="roundRect">
            <a:avLst>
              <a:gd name="adj" fmla="val 9091"/>
            </a:avLst>
          </a:prstGeom>
          <a:solidFill>
            <a:srgbClr val="FFC220"/>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8" name="Text 6"/>
          <p:cNvSpPr txBox="1"/>
          <p:nvPr/>
        </p:nvSpPr>
        <p:spPr>
          <a:xfrm>
            <a:off x="731520" y="2194560"/>
            <a:ext cx="2011680" cy="804672"/>
          </a:xfrm>
          <a:prstGeom prst="rect">
            <a:avLst/>
          </a:prstGeom>
          <a:noFill/>
          <a:ln/>
        </p:spPr>
        <p:txBody>
          <a:bodyPr wrap="square" lIns="0" tIns="0" rIns="0" bIns="0" rtlCol="0" anchor="ctr"/>
          <a:lstStyle/>
          <a:p>
            <a:pPr indent="0" marL="0">
              <a:buNone/>
            </a:pPr>
            <a:r>
              <a:rPr lang="en-US" sz="1800" b="1" dirty="0">
                <a:solidFill>
                  <a:srgbClr val="333333"/>
                </a:solidFill>
                <a:latin typeface="Calibri" pitchFamily="34" charset="0"/>
                <a:ea typeface="Calibri" pitchFamily="34" charset="-122"/>
                <a:cs typeface="Calibri" pitchFamily="34" charset="-120"/>
              </a:rPr>
              <a:t>Frontend</a:t>
            </a:r>
            <a:endParaRPr lang="en-US" sz="1800" dirty="0"/>
          </a:p>
        </p:txBody>
      </p:sp>
      <p:sp>
        <p:nvSpPr>
          <p:cNvPr id="9" name="Text 7"/>
          <p:cNvSpPr txBox="1"/>
          <p:nvPr/>
        </p:nvSpPr>
        <p:spPr>
          <a:xfrm>
            <a:off x="2651760" y="2194560"/>
            <a:ext cx="4572000" cy="804672"/>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React applicant portal and underwriting dashboard</a:t>
            </a:r>
            <a:endParaRPr lang="en-US" sz="1250" dirty="0"/>
          </a:p>
        </p:txBody>
      </p:sp>
      <p:sp>
        <p:nvSpPr>
          <p:cNvPr id="10" name="Shape 8"/>
          <p:cNvSpPr/>
          <p:nvPr/>
        </p:nvSpPr>
        <p:spPr>
          <a:xfrm>
            <a:off x="3794760" y="2980944"/>
            <a:ext cx="274320" cy="182880"/>
          </a:xfrm>
          <a:prstGeom prst="downArrow">
            <a:avLst/>
          </a:prstGeom>
          <a:solidFill>
            <a:srgbClr val="E0A800"/>
          </a:solidFill>
          <a:ln/>
        </p:spPr>
      </p:sp>
      <p:sp>
        <p:nvSpPr>
          <p:cNvPr id="11" name="Shape 9"/>
          <p:cNvSpPr/>
          <p:nvPr/>
        </p:nvSpPr>
        <p:spPr>
          <a:xfrm>
            <a:off x="457200" y="3127248"/>
            <a:ext cx="6949440" cy="804672"/>
          </a:xfrm>
          <a:prstGeom prst="roundRect">
            <a:avLst>
              <a:gd name="adj" fmla="val 9091"/>
            </a:avLst>
          </a:prstGeom>
          <a:solidFill>
            <a:srgbClr val="333333"/>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2" name="Text 10"/>
          <p:cNvSpPr txBox="1"/>
          <p:nvPr/>
        </p:nvSpPr>
        <p:spPr>
          <a:xfrm>
            <a:off x="731520" y="3127248"/>
            <a:ext cx="2011680" cy="8046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Backend</a:t>
            </a:r>
            <a:endParaRPr lang="en-US" sz="1800" dirty="0"/>
          </a:p>
        </p:txBody>
      </p:sp>
      <p:sp>
        <p:nvSpPr>
          <p:cNvPr id="13" name="Text 11"/>
          <p:cNvSpPr txBox="1"/>
          <p:nvPr/>
        </p:nvSpPr>
        <p:spPr>
          <a:xfrm>
            <a:off x="2651760" y="3127248"/>
            <a:ext cx="4572000" cy="8046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Spring Boot REST API, JWT auth and Role-Based Access Control</a:t>
            </a:r>
            <a:endParaRPr lang="en-US" sz="1250" dirty="0"/>
          </a:p>
        </p:txBody>
      </p:sp>
      <p:sp>
        <p:nvSpPr>
          <p:cNvPr id="14" name="Shape 12"/>
          <p:cNvSpPr/>
          <p:nvPr/>
        </p:nvSpPr>
        <p:spPr>
          <a:xfrm>
            <a:off x="3794760" y="3913632"/>
            <a:ext cx="274320" cy="182880"/>
          </a:xfrm>
          <a:prstGeom prst="downArrow">
            <a:avLst/>
          </a:prstGeom>
          <a:solidFill>
            <a:srgbClr val="E0A800"/>
          </a:solidFill>
          <a:ln/>
        </p:spPr>
      </p:sp>
      <p:sp>
        <p:nvSpPr>
          <p:cNvPr id="15" name="Shape 13"/>
          <p:cNvSpPr/>
          <p:nvPr/>
        </p:nvSpPr>
        <p:spPr>
          <a:xfrm>
            <a:off x="457200" y="4059936"/>
            <a:ext cx="6949440" cy="804672"/>
          </a:xfrm>
          <a:prstGeom prst="roundRect">
            <a:avLst>
              <a:gd name="adj" fmla="val 9091"/>
            </a:avLst>
          </a:prstGeom>
          <a:solidFill>
            <a:srgbClr val="5C5C5C"/>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6" name="Text 14"/>
          <p:cNvSpPr txBox="1"/>
          <p:nvPr/>
        </p:nvSpPr>
        <p:spPr>
          <a:xfrm>
            <a:off x="731520" y="4059936"/>
            <a:ext cx="2011680" cy="8046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a:t>
            </a:r>
            <a:endParaRPr lang="en-US" sz="1800" dirty="0"/>
          </a:p>
        </p:txBody>
      </p:sp>
      <p:sp>
        <p:nvSpPr>
          <p:cNvPr id="17" name="Text 15"/>
          <p:cNvSpPr txBox="1"/>
          <p:nvPr/>
        </p:nvSpPr>
        <p:spPr>
          <a:xfrm>
            <a:off x="2651760" y="4059936"/>
            <a:ext cx="4572000" cy="8046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PostgreSQL with pgvector for contextual risk pattern search</a:t>
            </a:r>
            <a:endParaRPr lang="en-US" sz="1250" dirty="0"/>
          </a:p>
        </p:txBody>
      </p:sp>
      <p:sp>
        <p:nvSpPr>
          <p:cNvPr id="18" name="Shape 16"/>
          <p:cNvSpPr/>
          <p:nvPr/>
        </p:nvSpPr>
        <p:spPr>
          <a:xfrm>
            <a:off x="3794760" y="4846320"/>
            <a:ext cx="274320" cy="182880"/>
          </a:xfrm>
          <a:prstGeom prst="downArrow">
            <a:avLst/>
          </a:prstGeom>
          <a:solidFill>
            <a:srgbClr val="E0A800"/>
          </a:solidFill>
          <a:ln/>
        </p:spPr>
      </p:sp>
      <p:sp>
        <p:nvSpPr>
          <p:cNvPr id="19" name="Shape 17"/>
          <p:cNvSpPr/>
          <p:nvPr/>
        </p:nvSpPr>
        <p:spPr>
          <a:xfrm>
            <a:off x="457200" y="4992624"/>
            <a:ext cx="6949440" cy="804672"/>
          </a:xfrm>
          <a:prstGeom prst="roundRect">
            <a:avLst>
              <a:gd name="adj" fmla="val 9091"/>
            </a:avLst>
          </a:prstGeom>
          <a:solidFill>
            <a:srgbClr val="E0A800"/>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0" name="Text 18"/>
          <p:cNvSpPr txBox="1"/>
          <p:nvPr/>
        </p:nvSpPr>
        <p:spPr>
          <a:xfrm>
            <a:off x="731520" y="4992624"/>
            <a:ext cx="2011680" cy="80467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AI</a:t>
            </a:r>
            <a:endParaRPr lang="en-US" sz="1800" dirty="0"/>
          </a:p>
        </p:txBody>
      </p:sp>
      <p:sp>
        <p:nvSpPr>
          <p:cNvPr id="21" name="Text 19"/>
          <p:cNvSpPr txBox="1"/>
          <p:nvPr/>
        </p:nvSpPr>
        <p:spPr>
          <a:xfrm>
            <a:off x="2651760" y="4992624"/>
            <a:ext cx="4572000" cy="8046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AWS Bedrock orchestrator with a deterministic fallback</a:t>
            </a:r>
            <a:endParaRPr lang="en-US" sz="1250" dirty="0"/>
          </a:p>
        </p:txBody>
      </p:sp>
      <p:sp>
        <p:nvSpPr>
          <p:cNvPr id="22" name="Shape 20"/>
          <p:cNvSpPr/>
          <p:nvPr/>
        </p:nvSpPr>
        <p:spPr>
          <a:xfrm>
            <a:off x="7635240" y="2194560"/>
            <a:ext cx="4096512" cy="3694176"/>
          </a:xfrm>
          <a:prstGeom prst="roundRect">
            <a:avLst>
              <a:gd name="adj" fmla="val 1980"/>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3" name="Text 21"/>
          <p:cNvSpPr txBox="1"/>
          <p:nvPr/>
        </p:nvSpPr>
        <p:spPr>
          <a:xfrm>
            <a:off x="7863840" y="2377440"/>
            <a:ext cx="3657600" cy="365760"/>
          </a:xfrm>
          <a:prstGeom prst="rect">
            <a:avLst/>
          </a:prstGeom>
          <a:noFill/>
          <a:ln/>
        </p:spPr>
        <p:txBody>
          <a:bodyPr wrap="square" lIns="0" tIns="0" rIns="0" bIns="0" rtlCol="0" anchor="ctr"/>
          <a:lstStyle/>
          <a:p>
            <a:pPr indent="0" marL="0">
              <a:buNone/>
            </a:pPr>
            <a:r>
              <a:rPr lang="en-US" sz="1500" b="1" dirty="0">
                <a:solidFill>
                  <a:srgbClr val="333333"/>
                </a:solidFill>
                <a:latin typeface="Calibri" pitchFamily="34" charset="0"/>
                <a:ea typeface="Calibri" pitchFamily="34" charset="-122"/>
                <a:cs typeface="Calibri" pitchFamily="34" charset="-120"/>
              </a:rPr>
              <a:t>Applicant lifecycle</a:t>
            </a:r>
            <a:endParaRPr lang="en-US" sz="1500" dirty="0"/>
          </a:p>
        </p:txBody>
      </p:sp>
      <p:sp>
        <p:nvSpPr>
          <p:cNvPr id="24" name="Shape 22"/>
          <p:cNvSpPr/>
          <p:nvPr/>
        </p:nvSpPr>
        <p:spPr>
          <a:xfrm>
            <a:off x="7863840" y="2834640"/>
            <a:ext cx="320040" cy="320040"/>
          </a:xfrm>
          <a:prstGeom prst="ellipse">
            <a:avLst/>
          </a:prstGeom>
          <a:solidFill>
            <a:srgbClr val="FFC220"/>
          </a:solidFill>
          <a:ln/>
        </p:spPr>
      </p:sp>
      <p:sp>
        <p:nvSpPr>
          <p:cNvPr id="25" name="Text 23"/>
          <p:cNvSpPr txBox="1"/>
          <p:nvPr/>
        </p:nvSpPr>
        <p:spPr>
          <a:xfrm>
            <a:off x="7863840" y="2834640"/>
            <a:ext cx="320040" cy="320040"/>
          </a:xfrm>
          <a:prstGeom prst="rect">
            <a:avLst/>
          </a:prstGeom>
          <a:noFill/>
          <a:ln/>
        </p:spPr>
        <p:txBody>
          <a:bodyPr wrap="square" lIns="0" tIns="0" rIns="0" bIns="0"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1</a:t>
            </a:r>
            <a:endParaRPr lang="en-US" sz="1200" dirty="0"/>
          </a:p>
        </p:txBody>
      </p:sp>
      <p:sp>
        <p:nvSpPr>
          <p:cNvPr id="26" name="Text 24"/>
          <p:cNvSpPr txBox="1"/>
          <p:nvPr/>
        </p:nvSpPr>
        <p:spPr>
          <a:xfrm>
            <a:off x="8275320" y="2807208"/>
            <a:ext cx="3291840" cy="36576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Link data</a:t>
            </a:r>
            <a:endParaRPr lang="en-US" sz="1250" dirty="0"/>
          </a:p>
        </p:txBody>
      </p:sp>
      <p:sp>
        <p:nvSpPr>
          <p:cNvPr id="27" name="Shape 25"/>
          <p:cNvSpPr/>
          <p:nvPr/>
        </p:nvSpPr>
        <p:spPr>
          <a:xfrm>
            <a:off x="7863840" y="3337560"/>
            <a:ext cx="320040" cy="320040"/>
          </a:xfrm>
          <a:prstGeom prst="ellipse">
            <a:avLst/>
          </a:prstGeom>
          <a:solidFill>
            <a:srgbClr val="FFC220"/>
          </a:solidFill>
          <a:ln/>
        </p:spPr>
      </p:sp>
      <p:sp>
        <p:nvSpPr>
          <p:cNvPr id="28" name="Text 26"/>
          <p:cNvSpPr txBox="1"/>
          <p:nvPr/>
        </p:nvSpPr>
        <p:spPr>
          <a:xfrm>
            <a:off x="7863840" y="3337560"/>
            <a:ext cx="320040" cy="320040"/>
          </a:xfrm>
          <a:prstGeom prst="rect">
            <a:avLst/>
          </a:prstGeom>
          <a:noFill/>
          <a:ln/>
        </p:spPr>
        <p:txBody>
          <a:bodyPr wrap="square" lIns="0" tIns="0" rIns="0" bIns="0"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2</a:t>
            </a:r>
            <a:endParaRPr lang="en-US" sz="1200" dirty="0"/>
          </a:p>
        </p:txBody>
      </p:sp>
      <p:sp>
        <p:nvSpPr>
          <p:cNvPr id="29" name="Text 27"/>
          <p:cNvSpPr txBox="1"/>
          <p:nvPr/>
        </p:nvSpPr>
        <p:spPr>
          <a:xfrm>
            <a:off x="8275320" y="3310128"/>
            <a:ext cx="3291840" cy="36576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Extract features</a:t>
            </a:r>
            <a:endParaRPr lang="en-US" sz="1250" dirty="0"/>
          </a:p>
        </p:txBody>
      </p:sp>
      <p:sp>
        <p:nvSpPr>
          <p:cNvPr id="30" name="Shape 28"/>
          <p:cNvSpPr/>
          <p:nvPr/>
        </p:nvSpPr>
        <p:spPr>
          <a:xfrm>
            <a:off x="7863840" y="3840480"/>
            <a:ext cx="320040" cy="320040"/>
          </a:xfrm>
          <a:prstGeom prst="ellipse">
            <a:avLst/>
          </a:prstGeom>
          <a:solidFill>
            <a:srgbClr val="FFC220"/>
          </a:solidFill>
          <a:ln/>
        </p:spPr>
      </p:sp>
      <p:sp>
        <p:nvSpPr>
          <p:cNvPr id="31" name="Text 29"/>
          <p:cNvSpPr txBox="1"/>
          <p:nvPr/>
        </p:nvSpPr>
        <p:spPr>
          <a:xfrm>
            <a:off x="7863840" y="3840480"/>
            <a:ext cx="320040" cy="320040"/>
          </a:xfrm>
          <a:prstGeom prst="rect">
            <a:avLst/>
          </a:prstGeom>
          <a:noFill/>
          <a:ln/>
        </p:spPr>
        <p:txBody>
          <a:bodyPr wrap="square" lIns="0" tIns="0" rIns="0" bIns="0"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8275320" y="3813048"/>
            <a:ext cx="3291840" cy="36576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Score and assess fairness</a:t>
            </a:r>
            <a:endParaRPr lang="en-US" sz="1250" dirty="0"/>
          </a:p>
        </p:txBody>
      </p:sp>
      <p:sp>
        <p:nvSpPr>
          <p:cNvPr id="33" name="Shape 31"/>
          <p:cNvSpPr/>
          <p:nvPr/>
        </p:nvSpPr>
        <p:spPr>
          <a:xfrm>
            <a:off x="7863840" y="4343400"/>
            <a:ext cx="320040" cy="320040"/>
          </a:xfrm>
          <a:prstGeom prst="ellipse">
            <a:avLst/>
          </a:prstGeom>
          <a:solidFill>
            <a:srgbClr val="FFC220"/>
          </a:solidFill>
          <a:ln/>
        </p:spPr>
      </p:sp>
      <p:sp>
        <p:nvSpPr>
          <p:cNvPr id="34" name="Text 32"/>
          <p:cNvSpPr txBox="1"/>
          <p:nvPr/>
        </p:nvSpPr>
        <p:spPr>
          <a:xfrm>
            <a:off x="7863840" y="4343400"/>
            <a:ext cx="320040" cy="320040"/>
          </a:xfrm>
          <a:prstGeom prst="rect">
            <a:avLst/>
          </a:prstGeom>
          <a:noFill/>
          <a:ln/>
        </p:spPr>
        <p:txBody>
          <a:bodyPr wrap="square" lIns="0" tIns="0" rIns="0" bIns="0"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4</a:t>
            </a:r>
            <a:endParaRPr lang="en-US" sz="1200" dirty="0"/>
          </a:p>
        </p:txBody>
      </p:sp>
      <p:sp>
        <p:nvSpPr>
          <p:cNvPr id="35" name="Text 33"/>
          <p:cNvSpPr txBox="1"/>
          <p:nvPr/>
        </p:nvSpPr>
        <p:spPr>
          <a:xfrm>
            <a:off x="8275320" y="4315968"/>
            <a:ext cx="3291840" cy="36576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Compute recourse</a:t>
            </a:r>
            <a:endParaRPr lang="en-US" sz="1250" dirty="0"/>
          </a:p>
        </p:txBody>
      </p:sp>
      <p:sp>
        <p:nvSpPr>
          <p:cNvPr id="36" name="Shape 34"/>
          <p:cNvSpPr/>
          <p:nvPr/>
        </p:nvSpPr>
        <p:spPr>
          <a:xfrm>
            <a:off x="7863840" y="4846320"/>
            <a:ext cx="320040" cy="320040"/>
          </a:xfrm>
          <a:prstGeom prst="ellipse">
            <a:avLst/>
          </a:prstGeom>
          <a:solidFill>
            <a:srgbClr val="FFC220"/>
          </a:solidFill>
          <a:ln/>
        </p:spPr>
      </p:sp>
      <p:sp>
        <p:nvSpPr>
          <p:cNvPr id="37" name="Text 35"/>
          <p:cNvSpPr txBox="1"/>
          <p:nvPr/>
        </p:nvSpPr>
        <p:spPr>
          <a:xfrm>
            <a:off x="7863840" y="4846320"/>
            <a:ext cx="320040" cy="320040"/>
          </a:xfrm>
          <a:prstGeom prst="rect">
            <a:avLst/>
          </a:prstGeom>
          <a:noFill/>
          <a:ln/>
        </p:spPr>
        <p:txBody>
          <a:bodyPr wrap="square" lIns="0" tIns="0" rIns="0" bIns="0"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5</a:t>
            </a:r>
            <a:endParaRPr lang="en-US" sz="1200" dirty="0"/>
          </a:p>
        </p:txBody>
      </p:sp>
      <p:sp>
        <p:nvSpPr>
          <p:cNvPr id="38" name="Text 36"/>
          <p:cNvSpPr txBox="1"/>
          <p:nvPr/>
        </p:nvSpPr>
        <p:spPr>
          <a:xfrm>
            <a:off x="8275320" y="4818888"/>
            <a:ext cx="3291840" cy="36576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Generate rationale</a:t>
            </a:r>
            <a:endParaRPr lang="en-US" sz="1250" dirty="0"/>
          </a:p>
        </p:txBody>
      </p:sp>
      <p:sp>
        <p:nvSpPr>
          <p:cNvPr id="39" name="Shape 37"/>
          <p:cNvSpPr/>
          <p:nvPr/>
        </p:nvSpPr>
        <p:spPr>
          <a:xfrm>
            <a:off x="7863840" y="5349240"/>
            <a:ext cx="320040" cy="320040"/>
          </a:xfrm>
          <a:prstGeom prst="ellipse">
            <a:avLst/>
          </a:prstGeom>
          <a:solidFill>
            <a:srgbClr val="FFC220"/>
          </a:solidFill>
          <a:ln/>
        </p:spPr>
      </p:sp>
      <p:sp>
        <p:nvSpPr>
          <p:cNvPr id="40" name="Text 38"/>
          <p:cNvSpPr txBox="1"/>
          <p:nvPr/>
        </p:nvSpPr>
        <p:spPr>
          <a:xfrm>
            <a:off x="7863840" y="5349240"/>
            <a:ext cx="320040" cy="320040"/>
          </a:xfrm>
          <a:prstGeom prst="rect">
            <a:avLst/>
          </a:prstGeom>
          <a:noFill/>
          <a:ln/>
        </p:spPr>
        <p:txBody>
          <a:bodyPr wrap="square" lIns="0" tIns="0" rIns="0" bIns="0"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6</a:t>
            </a:r>
            <a:endParaRPr lang="en-US" sz="1200" dirty="0"/>
          </a:p>
        </p:txBody>
      </p:sp>
      <p:sp>
        <p:nvSpPr>
          <p:cNvPr id="41" name="Text 39"/>
          <p:cNvSpPr txBox="1"/>
          <p:nvPr/>
        </p:nvSpPr>
        <p:spPr>
          <a:xfrm>
            <a:off x="8275320" y="5321808"/>
            <a:ext cx="3291840" cy="365760"/>
          </a:xfrm>
          <a:prstGeom prst="rect">
            <a:avLst/>
          </a:prstGeom>
          <a:noFill/>
          <a:ln/>
        </p:spPr>
        <p:txBody>
          <a:bodyPr wrap="square" lIns="0" tIns="0" rIns="0" bIns="0" rtlCol="0" anchor="ctr"/>
          <a:lstStyle/>
          <a:p>
            <a:pPr indent="0" marL="0">
              <a:buNone/>
            </a:pPr>
            <a:r>
              <a:rPr lang="en-US" sz="1250" dirty="0">
                <a:solidFill>
                  <a:srgbClr val="333333"/>
                </a:solidFill>
                <a:latin typeface="Calibri" pitchFamily="34" charset="0"/>
                <a:ea typeface="Calibri" pitchFamily="34" charset="-122"/>
                <a:cs typeface="Calibri" pitchFamily="34" charset="-120"/>
              </a:rPr>
              <a:t>Store embedding and audit</a:t>
            </a:r>
            <a:endParaRPr lang="en-US" sz="1250" dirty="0"/>
          </a:p>
        </p:txBody>
      </p:sp>
      <p:sp>
        <p:nvSpPr>
          <p:cNvPr id="42" name="Text 40"/>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5C5C5C"/>
                </a:solidFill>
                <a:latin typeface="Calibri" pitchFamily="34" charset="0"/>
                <a:ea typeface="Calibri" pitchFamily="34" charset="-122"/>
                <a:cs typeface="Calibri" pitchFamily="34" charset="-120"/>
              </a:rPr>
              <a:t>Synchrony Financial Inclusion</a:t>
            </a:r>
            <a:endParaRPr lang="en-US" sz="900" dirty="0"/>
          </a:p>
        </p:txBody>
      </p:sp>
      <p:sp>
        <p:nvSpPr>
          <p:cNvPr id="43" name="Text 41"/>
          <p:cNvSpPr txBox="1"/>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5C5C5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roundRect">
            <a:avLst>
              <a:gd name="adj" fmla="val 16667"/>
            </a:avLst>
          </a:prstGeom>
          <a:solidFill>
            <a:srgbClr val="FFC220"/>
          </a:solidFill>
          <a:ln/>
        </p:spPr>
      </p:sp>
      <p:sp>
        <p:nvSpPr>
          <p:cNvPr id="3" name="Text 1"/>
          <p:cNvSpPr txBox="1"/>
          <p:nvPr/>
        </p:nvSpPr>
        <p:spPr>
          <a:xfrm>
            <a:off x="457200" y="36576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4" name="Text 2"/>
          <p:cNvSpPr txBox="1"/>
          <p:nvPr/>
        </p:nvSpPr>
        <p:spPr>
          <a:xfrm>
            <a:off x="914400" y="365760"/>
            <a:ext cx="5486400" cy="38404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5" name="Text 3"/>
          <p:cNvSpPr txBox="1"/>
          <p:nvPr/>
        </p:nvSpPr>
        <p:spPr>
          <a:xfrm>
            <a:off x="457200" y="1051560"/>
            <a:ext cx="10972800" cy="27432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EXPLAINABLE AI IN UNDERWRITING</a:t>
            </a:r>
            <a:endParaRPr lang="en-US" sz="1200" dirty="0"/>
          </a:p>
        </p:txBody>
      </p:sp>
      <p:sp>
        <p:nvSpPr>
          <p:cNvPr id="6" name="Text 4"/>
          <p:cNvSpPr txBox="1"/>
          <p:nvPr/>
        </p:nvSpPr>
        <p:spPr>
          <a:xfrm>
            <a:off x="457200" y="1280160"/>
            <a:ext cx="11247120" cy="731520"/>
          </a:xfrm>
          <a:prstGeom prst="rect">
            <a:avLst/>
          </a:prstGeom>
          <a:noFill/>
          <a:ln/>
        </p:spPr>
        <p:txBody>
          <a:bodyPr wrap="square" lIns="0" tIns="0" rIns="0" bIns="0" rtlCol="0" anchor="ctr"/>
          <a:lstStyle/>
          <a:p>
            <a:pPr indent="0" marL="0">
              <a:buNone/>
            </a:pPr>
            <a:r>
              <a:rPr lang="en-US" sz="3400" b="1" dirty="0">
                <a:solidFill>
                  <a:srgbClr val="333333"/>
                </a:solidFill>
                <a:latin typeface="Calibri" pitchFamily="34" charset="0"/>
                <a:ea typeface="Calibri" pitchFamily="34" charset="-122"/>
                <a:cs typeface="Calibri" pitchFamily="34" charset="-120"/>
              </a:rPr>
              <a:t>Feature attribution, similarity and transparent decisions</a:t>
            </a:r>
            <a:endParaRPr lang="en-US" sz="3400" dirty="0"/>
          </a:p>
        </p:txBody>
      </p:sp>
      <p:sp>
        <p:nvSpPr>
          <p:cNvPr id="7" name="Shape 5"/>
          <p:cNvSpPr/>
          <p:nvPr/>
        </p:nvSpPr>
        <p:spPr>
          <a:xfrm>
            <a:off x="457200" y="2240280"/>
            <a:ext cx="5760720" cy="3611880"/>
          </a:xfrm>
          <a:prstGeom prst="roundRect">
            <a:avLst>
              <a:gd name="adj" fmla="val 2025"/>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8" name="Text 6"/>
          <p:cNvSpPr txBox="1"/>
          <p:nvPr/>
        </p:nvSpPr>
        <p:spPr>
          <a:xfrm>
            <a:off x="731520" y="2423160"/>
            <a:ext cx="5029200" cy="365760"/>
          </a:xfrm>
          <a:prstGeom prst="rect">
            <a:avLst/>
          </a:prstGeom>
          <a:noFill/>
          <a:ln/>
        </p:spPr>
        <p:txBody>
          <a:bodyPr wrap="square" lIns="0" tIns="0" rIns="0" bIns="0" rtlCol="0" anchor="ctr"/>
          <a:lstStyle/>
          <a:p>
            <a:pPr indent="0" marL="0">
              <a:buNone/>
            </a:pPr>
            <a:r>
              <a:rPr lang="en-US" sz="1500" b="1" dirty="0">
                <a:solidFill>
                  <a:srgbClr val="333333"/>
                </a:solidFill>
                <a:latin typeface="Calibri" pitchFamily="34" charset="0"/>
                <a:ea typeface="Calibri" pitchFamily="34" charset="-122"/>
                <a:cs typeface="Calibri" pitchFamily="34" charset="-120"/>
              </a:rPr>
              <a:t>Feature attribution</a:t>
            </a:r>
            <a:endParaRPr lang="en-US" sz="1500" dirty="0"/>
          </a:p>
        </p:txBody>
      </p:sp>
      <p:sp>
        <p:nvSpPr>
          <p:cNvPr id="9" name="Text 7"/>
          <p:cNvSpPr txBox="1"/>
          <p:nvPr/>
        </p:nvSpPr>
        <p:spPr>
          <a:xfrm>
            <a:off x="731520" y="2907792"/>
            <a:ext cx="2377440" cy="320040"/>
          </a:xfrm>
          <a:prstGeom prst="rect">
            <a:avLst/>
          </a:prstGeom>
          <a:noFill/>
          <a:ln/>
        </p:spPr>
        <p:txBody>
          <a:bodyPr wrap="square" lIns="0" tIns="0" rIns="0" bIns="0" rtlCol="0" anchor="ctr"/>
          <a:lstStyle/>
          <a:p>
            <a:pPr algn="r" indent="0" marL="0">
              <a:buNone/>
            </a:pPr>
            <a:r>
              <a:rPr lang="en-US" sz="1050" dirty="0">
                <a:solidFill>
                  <a:srgbClr val="5C5C5C"/>
                </a:solidFill>
                <a:latin typeface="Calibri" pitchFamily="34" charset="0"/>
                <a:ea typeface="Calibri" pitchFamily="34" charset="-122"/>
                <a:cs typeface="Calibri" pitchFamily="34" charset="-120"/>
              </a:rPr>
              <a:t>Distance from fraud clusters</a:t>
            </a:r>
            <a:endParaRPr lang="en-US" sz="1050" dirty="0"/>
          </a:p>
        </p:txBody>
      </p:sp>
      <p:sp>
        <p:nvSpPr>
          <p:cNvPr id="10" name="Shape 8"/>
          <p:cNvSpPr/>
          <p:nvPr/>
        </p:nvSpPr>
        <p:spPr>
          <a:xfrm>
            <a:off x="3429000" y="2880360"/>
            <a:ext cx="0" cy="384048"/>
          </a:xfrm>
          <a:prstGeom prst="line">
            <a:avLst/>
          </a:prstGeom>
          <a:noFill/>
          <a:ln w="12700">
            <a:solidFill>
              <a:srgbClr val="CCCCCC"/>
            </a:solidFill>
            <a:prstDash val="solid"/>
          </a:ln>
        </p:spPr>
      </p:sp>
      <p:sp>
        <p:nvSpPr>
          <p:cNvPr id="11" name="Shape 9"/>
          <p:cNvSpPr/>
          <p:nvPr/>
        </p:nvSpPr>
        <p:spPr>
          <a:xfrm>
            <a:off x="3429000" y="2953512"/>
            <a:ext cx="2329891" cy="237744"/>
          </a:xfrm>
          <a:prstGeom prst="roundRect">
            <a:avLst>
              <a:gd name="adj" fmla="val 11538"/>
            </a:avLst>
          </a:prstGeom>
          <a:solidFill>
            <a:srgbClr val="1A7F47"/>
          </a:solidFill>
          <a:ln/>
        </p:spPr>
      </p:sp>
      <p:sp>
        <p:nvSpPr>
          <p:cNvPr id="12" name="Text 10"/>
          <p:cNvSpPr txBox="1"/>
          <p:nvPr/>
        </p:nvSpPr>
        <p:spPr>
          <a:xfrm>
            <a:off x="731520" y="3364992"/>
            <a:ext cx="2377440" cy="320040"/>
          </a:xfrm>
          <a:prstGeom prst="rect">
            <a:avLst/>
          </a:prstGeom>
          <a:noFill/>
          <a:ln/>
        </p:spPr>
        <p:txBody>
          <a:bodyPr wrap="square" lIns="0" tIns="0" rIns="0" bIns="0" rtlCol="0" anchor="ctr"/>
          <a:lstStyle/>
          <a:p>
            <a:pPr algn="r" indent="0" marL="0">
              <a:buNone/>
            </a:pPr>
            <a:r>
              <a:rPr lang="en-US" sz="1050" dirty="0">
                <a:solidFill>
                  <a:srgbClr val="5C5C5C"/>
                </a:solidFill>
                <a:latin typeface="Calibri" pitchFamily="34" charset="0"/>
                <a:ea typeface="Calibri" pitchFamily="34" charset="-122"/>
                <a:cs typeface="Calibri" pitchFamily="34" charset="-120"/>
              </a:rPr>
              <a:t>Utility payment punctuality</a:t>
            </a:r>
            <a:endParaRPr lang="en-US" sz="1050" dirty="0"/>
          </a:p>
        </p:txBody>
      </p:sp>
      <p:sp>
        <p:nvSpPr>
          <p:cNvPr id="13" name="Shape 11"/>
          <p:cNvSpPr/>
          <p:nvPr/>
        </p:nvSpPr>
        <p:spPr>
          <a:xfrm>
            <a:off x="3429000" y="3337560"/>
            <a:ext cx="0" cy="384048"/>
          </a:xfrm>
          <a:prstGeom prst="line">
            <a:avLst/>
          </a:prstGeom>
          <a:noFill/>
          <a:ln w="12700">
            <a:solidFill>
              <a:srgbClr val="CCCCCC"/>
            </a:solidFill>
            <a:prstDash val="solid"/>
          </a:ln>
        </p:spPr>
      </p:sp>
      <p:sp>
        <p:nvSpPr>
          <p:cNvPr id="14" name="Shape 12"/>
          <p:cNvSpPr/>
          <p:nvPr/>
        </p:nvSpPr>
        <p:spPr>
          <a:xfrm>
            <a:off x="3429000" y="3410712"/>
            <a:ext cx="2187245" cy="237744"/>
          </a:xfrm>
          <a:prstGeom prst="roundRect">
            <a:avLst>
              <a:gd name="adj" fmla="val 11538"/>
            </a:avLst>
          </a:prstGeom>
          <a:solidFill>
            <a:srgbClr val="1A7F47"/>
          </a:solidFill>
          <a:ln/>
        </p:spPr>
      </p:sp>
      <p:sp>
        <p:nvSpPr>
          <p:cNvPr id="15" name="Text 13"/>
          <p:cNvSpPr txBox="1"/>
          <p:nvPr/>
        </p:nvSpPr>
        <p:spPr>
          <a:xfrm>
            <a:off x="731520" y="3822192"/>
            <a:ext cx="2377440" cy="320040"/>
          </a:xfrm>
          <a:prstGeom prst="rect">
            <a:avLst/>
          </a:prstGeom>
          <a:noFill/>
          <a:ln/>
        </p:spPr>
        <p:txBody>
          <a:bodyPr wrap="square" lIns="0" tIns="0" rIns="0" bIns="0" rtlCol="0" anchor="ctr"/>
          <a:lstStyle/>
          <a:p>
            <a:pPr algn="r" indent="0" marL="0">
              <a:buNone/>
            </a:pPr>
            <a:r>
              <a:rPr lang="en-US" sz="1050" dirty="0">
                <a:solidFill>
                  <a:srgbClr val="5C5C5C"/>
                </a:solidFill>
                <a:latin typeface="Calibri" pitchFamily="34" charset="0"/>
                <a:ea typeface="Calibri" pitchFamily="34" charset="-122"/>
                <a:cs typeface="Calibri" pitchFamily="34" charset="-120"/>
              </a:rPr>
              <a:t>Transaction network stability</a:t>
            </a:r>
            <a:endParaRPr lang="en-US" sz="1050" dirty="0"/>
          </a:p>
        </p:txBody>
      </p:sp>
      <p:sp>
        <p:nvSpPr>
          <p:cNvPr id="16" name="Shape 14"/>
          <p:cNvSpPr/>
          <p:nvPr/>
        </p:nvSpPr>
        <p:spPr>
          <a:xfrm>
            <a:off x="3429000" y="3794760"/>
            <a:ext cx="0" cy="384048"/>
          </a:xfrm>
          <a:prstGeom prst="line">
            <a:avLst/>
          </a:prstGeom>
          <a:noFill/>
          <a:ln w="12700">
            <a:solidFill>
              <a:srgbClr val="CCCCCC"/>
            </a:solidFill>
            <a:prstDash val="solid"/>
          </a:ln>
        </p:spPr>
      </p:sp>
      <p:sp>
        <p:nvSpPr>
          <p:cNvPr id="17" name="Shape 15"/>
          <p:cNvSpPr/>
          <p:nvPr/>
        </p:nvSpPr>
        <p:spPr>
          <a:xfrm>
            <a:off x="3429000" y="3867912"/>
            <a:ext cx="2044598" cy="237744"/>
          </a:xfrm>
          <a:prstGeom prst="roundRect">
            <a:avLst>
              <a:gd name="adj" fmla="val 11538"/>
            </a:avLst>
          </a:prstGeom>
          <a:solidFill>
            <a:srgbClr val="1A7F47"/>
          </a:solidFill>
          <a:ln/>
        </p:spPr>
      </p:sp>
      <p:sp>
        <p:nvSpPr>
          <p:cNvPr id="18" name="Text 16"/>
          <p:cNvSpPr txBox="1"/>
          <p:nvPr/>
        </p:nvSpPr>
        <p:spPr>
          <a:xfrm>
            <a:off x="731520" y="4279392"/>
            <a:ext cx="2377440" cy="320040"/>
          </a:xfrm>
          <a:prstGeom prst="rect">
            <a:avLst/>
          </a:prstGeom>
          <a:noFill/>
          <a:ln/>
        </p:spPr>
        <p:txBody>
          <a:bodyPr wrap="square" lIns="0" tIns="0" rIns="0" bIns="0" rtlCol="0" anchor="ctr"/>
          <a:lstStyle/>
          <a:p>
            <a:pPr algn="r" indent="0" marL="0">
              <a:buNone/>
            </a:pPr>
            <a:r>
              <a:rPr lang="en-US" sz="1050" dirty="0">
                <a:solidFill>
                  <a:srgbClr val="5C5C5C"/>
                </a:solidFill>
                <a:latin typeface="Calibri" pitchFamily="34" charset="0"/>
                <a:ea typeface="Calibri" pitchFamily="34" charset="-122"/>
                <a:cs typeface="Calibri" pitchFamily="34" charset="-120"/>
              </a:rPr>
              <a:t>Payment settlement velocity</a:t>
            </a:r>
            <a:endParaRPr lang="en-US" sz="1050" dirty="0"/>
          </a:p>
        </p:txBody>
      </p:sp>
      <p:sp>
        <p:nvSpPr>
          <p:cNvPr id="19" name="Shape 17"/>
          <p:cNvSpPr/>
          <p:nvPr/>
        </p:nvSpPr>
        <p:spPr>
          <a:xfrm>
            <a:off x="3429000" y="4251960"/>
            <a:ext cx="0" cy="384048"/>
          </a:xfrm>
          <a:prstGeom prst="line">
            <a:avLst/>
          </a:prstGeom>
          <a:noFill/>
          <a:ln w="12700">
            <a:solidFill>
              <a:srgbClr val="CCCCCC"/>
            </a:solidFill>
            <a:prstDash val="solid"/>
          </a:ln>
        </p:spPr>
      </p:sp>
      <p:sp>
        <p:nvSpPr>
          <p:cNvPr id="20" name="Shape 18"/>
          <p:cNvSpPr/>
          <p:nvPr/>
        </p:nvSpPr>
        <p:spPr>
          <a:xfrm>
            <a:off x="3429000" y="4325112"/>
            <a:ext cx="1569110" cy="237744"/>
          </a:xfrm>
          <a:prstGeom prst="roundRect">
            <a:avLst>
              <a:gd name="adj" fmla="val 11538"/>
            </a:avLst>
          </a:prstGeom>
          <a:solidFill>
            <a:srgbClr val="1A7F47"/>
          </a:solidFill>
          <a:ln/>
        </p:spPr>
      </p:sp>
      <p:sp>
        <p:nvSpPr>
          <p:cNvPr id="21" name="Text 19"/>
          <p:cNvSpPr txBox="1"/>
          <p:nvPr/>
        </p:nvSpPr>
        <p:spPr>
          <a:xfrm>
            <a:off x="731520" y="4736592"/>
            <a:ext cx="2377440" cy="320040"/>
          </a:xfrm>
          <a:prstGeom prst="rect">
            <a:avLst/>
          </a:prstGeom>
          <a:noFill/>
          <a:ln/>
        </p:spPr>
        <p:txBody>
          <a:bodyPr wrap="square" lIns="0" tIns="0" rIns="0" bIns="0" rtlCol="0" anchor="ctr"/>
          <a:lstStyle/>
          <a:p>
            <a:pPr algn="r" indent="0" marL="0">
              <a:buNone/>
            </a:pPr>
            <a:r>
              <a:rPr lang="en-US" sz="1050" dirty="0">
                <a:solidFill>
                  <a:srgbClr val="5C5C5C"/>
                </a:solidFill>
                <a:latin typeface="Calibri" pitchFamily="34" charset="0"/>
                <a:ea typeface="Calibri" pitchFamily="34" charset="-122"/>
                <a:cs typeface="Calibri" pitchFamily="34" charset="-120"/>
              </a:rPr>
              <a:t>Mobile money inflow ratio</a:t>
            </a:r>
            <a:endParaRPr lang="en-US" sz="1050" dirty="0"/>
          </a:p>
        </p:txBody>
      </p:sp>
      <p:sp>
        <p:nvSpPr>
          <p:cNvPr id="22" name="Shape 20"/>
          <p:cNvSpPr/>
          <p:nvPr/>
        </p:nvSpPr>
        <p:spPr>
          <a:xfrm>
            <a:off x="3429000" y="4709160"/>
            <a:ext cx="0" cy="384048"/>
          </a:xfrm>
          <a:prstGeom prst="line">
            <a:avLst/>
          </a:prstGeom>
          <a:noFill/>
          <a:ln w="12700">
            <a:solidFill>
              <a:srgbClr val="CCCCCC"/>
            </a:solidFill>
            <a:prstDash val="solid"/>
          </a:ln>
        </p:spPr>
      </p:sp>
      <p:sp>
        <p:nvSpPr>
          <p:cNvPr id="23" name="Shape 21"/>
          <p:cNvSpPr/>
          <p:nvPr/>
        </p:nvSpPr>
        <p:spPr>
          <a:xfrm>
            <a:off x="3429000" y="4782312"/>
            <a:ext cx="380390" cy="237744"/>
          </a:xfrm>
          <a:prstGeom prst="roundRect">
            <a:avLst>
              <a:gd name="adj" fmla="val 11538"/>
            </a:avLst>
          </a:prstGeom>
          <a:solidFill>
            <a:srgbClr val="1A7F47"/>
          </a:solidFill>
          <a:ln/>
        </p:spPr>
      </p:sp>
      <p:sp>
        <p:nvSpPr>
          <p:cNvPr id="24" name="Text 22"/>
          <p:cNvSpPr txBox="1"/>
          <p:nvPr/>
        </p:nvSpPr>
        <p:spPr>
          <a:xfrm>
            <a:off x="731520" y="5193792"/>
            <a:ext cx="2377440" cy="320040"/>
          </a:xfrm>
          <a:prstGeom prst="rect">
            <a:avLst/>
          </a:prstGeom>
          <a:noFill/>
          <a:ln/>
        </p:spPr>
        <p:txBody>
          <a:bodyPr wrap="square" lIns="0" tIns="0" rIns="0" bIns="0" rtlCol="0" anchor="ctr"/>
          <a:lstStyle/>
          <a:p>
            <a:pPr algn="r" indent="0" marL="0">
              <a:buNone/>
            </a:pPr>
            <a:r>
              <a:rPr lang="en-US" sz="1050" dirty="0">
                <a:solidFill>
                  <a:srgbClr val="5C5C5C"/>
                </a:solidFill>
                <a:latin typeface="Calibri" pitchFamily="34" charset="0"/>
                <a:ea typeface="Calibri" pitchFamily="34" charset="-122"/>
                <a:cs typeface="Calibri" pitchFamily="34" charset="-120"/>
              </a:rPr>
              <a:t>Credit utilization health</a:t>
            </a:r>
            <a:endParaRPr lang="en-US" sz="1050" dirty="0"/>
          </a:p>
        </p:txBody>
      </p:sp>
      <p:sp>
        <p:nvSpPr>
          <p:cNvPr id="25" name="Shape 23"/>
          <p:cNvSpPr/>
          <p:nvPr/>
        </p:nvSpPr>
        <p:spPr>
          <a:xfrm>
            <a:off x="3429000" y="5166360"/>
            <a:ext cx="0" cy="384048"/>
          </a:xfrm>
          <a:prstGeom prst="line">
            <a:avLst/>
          </a:prstGeom>
          <a:noFill/>
          <a:ln w="12700">
            <a:solidFill>
              <a:srgbClr val="CCCCCC"/>
            </a:solidFill>
            <a:prstDash val="solid"/>
          </a:ln>
        </p:spPr>
      </p:sp>
      <p:sp>
        <p:nvSpPr>
          <p:cNvPr id="26" name="Shape 24"/>
          <p:cNvSpPr/>
          <p:nvPr/>
        </p:nvSpPr>
        <p:spPr>
          <a:xfrm>
            <a:off x="2382926" y="5239512"/>
            <a:ext cx="1046074" cy="237744"/>
          </a:xfrm>
          <a:prstGeom prst="roundRect">
            <a:avLst>
              <a:gd name="adj" fmla="val 11538"/>
            </a:avLst>
          </a:prstGeom>
          <a:solidFill>
            <a:srgbClr val="B3261E"/>
          </a:solidFill>
          <a:ln/>
        </p:spPr>
      </p:sp>
      <p:sp>
        <p:nvSpPr>
          <p:cNvPr id="27" name="Text 25"/>
          <p:cNvSpPr txBox="1"/>
          <p:nvPr/>
        </p:nvSpPr>
        <p:spPr>
          <a:xfrm>
            <a:off x="731520" y="5532120"/>
            <a:ext cx="5303520" cy="274320"/>
          </a:xfrm>
          <a:prstGeom prst="rect">
            <a:avLst/>
          </a:prstGeom>
          <a:noFill/>
          <a:ln/>
        </p:spPr>
        <p:txBody>
          <a:bodyPr wrap="square" lIns="0" tIns="0" rIns="0" bIns="0" rtlCol="0" anchor="ctr"/>
          <a:lstStyle/>
          <a:p>
            <a:pPr indent="0" marL="0">
              <a:buNone/>
            </a:pPr>
            <a:r>
              <a:rPr lang="en-US" sz="1050" i="1" dirty="0">
                <a:solidFill>
                  <a:srgbClr val="5C5C5C"/>
                </a:solidFill>
                <a:latin typeface="Calibri" pitchFamily="34" charset="0"/>
                <a:ea typeface="Calibri" pitchFamily="34" charset="-122"/>
                <a:cs typeface="Calibri" pitchFamily="34" charset="-120"/>
              </a:rPr>
              <a:t>Additive contributions sum to the score logit</a:t>
            </a:r>
            <a:endParaRPr lang="en-US" sz="1050" dirty="0"/>
          </a:p>
        </p:txBody>
      </p:sp>
      <p:sp>
        <p:nvSpPr>
          <p:cNvPr id="28" name="Shape 26"/>
          <p:cNvSpPr/>
          <p:nvPr/>
        </p:nvSpPr>
        <p:spPr>
          <a:xfrm>
            <a:off x="6400800" y="2240280"/>
            <a:ext cx="5330952" cy="1097280"/>
          </a:xfrm>
          <a:prstGeom prst="roundRect">
            <a:avLst>
              <a:gd name="adj" fmla="val 6667"/>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9" name="Shape 27"/>
          <p:cNvSpPr/>
          <p:nvPr/>
        </p:nvSpPr>
        <p:spPr>
          <a:xfrm>
            <a:off x="6629400" y="2532888"/>
            <a:ext cx="502920" cy="502920"/>
          </a:xfrm>
          <a:prstGeom prst="roundRect">
            <a:avLst>
              <a:gd name="adj" fmla="val 18182"/>
            </a:avLst>
          </a:prstGeom>
          <a:solidFill>
            <a:srgbClr val="FFC220"/>
          </a:solidFill>
          <a:ln/>
        </p:spPr>
      </p:sp>
      <p:sp>
        <p:nvSpPr>
          <p:cNvPr id="30" name="Text 28"/>
          <p:cNvSpPr txBox="1"/>
          <p:nvPr/>
        </p:nvSpPr>
        <p:spPr>
          <a:xfrm>
            <a:off x="6629400" y="2532888"/>
            <a:ext cx="502920" cy="502920"/>
          </a:xfrm>
          <a:prstGeom prst="rect">
            <a:avLst/>
          </a:prstGeom>
          <a:noFill/>
          <a:ln/>
        </p:spPr>
        <p:txBody>
          <a:bodyPr wrap="square" lIns="0" tIns="0" rIns="0" bIns="0" rtlCol="0" anchor="ctr"/>
          <a:lstStyle/>
          <a:p>
            <a:pPr algn="ctr" indent="0" marL="0">
              <a:buNone/>
            </a:pPr>
            <a:r>
              <a:rPr lang="en-US" sz="1800" b="1" dirty="0">
                <a:solidFill>
                  <a:srgbClr val="333333"/>
                </a:solidFill>
                <a:latin typeface="Calibri" pitchFamily="34" charset="0"/>
                <a:ea typeface="Calibri" pitchFamily="34" charset="-122"/>
                <a:cs typeface="Calibri" pitchFamily="34" charset="-120"/>
              </a:rPr>
              <a:t>1</a:t>
            </a:r>
            <a:endParaRPr lang="en-US" sz="1800" dirty="0"/>
          </a:p>
        </p:txBody>
      </p:sp>
      <p:sp>
        <p:nvSpPr>
          <p:cNvPr id="31" name="Text 29"/>
          <p:cNvSpPr txBox="1"/>
          <p:nvPr/>
        </p:nvSpPr>
        <p:spPr>
          <a:xfrm>
            <a:off x="7269480" y="2423160"/>
            <a:ext cx="4297680" cy="365760"/>
          </a:xfrm>
          <a:prstGeom prst="rect">
            <a:avLst/>
          </a:prstGeom>
          <a:noFill/>
          <a:ln/>
        </p:spPr>
        <p:txBody>
          <a:bodyPr wrap="square" lIns="0" tIns="0" rIns="0" bIns="0" rtlCol="0" anchor="ctr"/>
          <a:lstStyle/>
          <a:p>
            <a:pPr indent="0" marL="0">
              <a:buNone/>
            </a:pPr>
            <a:r>
              <a:rPr lang="en-US" sz="1500" b="1" dirty="0">
                <a:solidFill>
                  <a:srgbClr val="333333"/>
                </a:solidFill>
                <a:latin typeface="Calibri" pitchFamily="34" charset="0"/>
                <a:ea typeface="Calibri" pitchFamily="34" charset="-122"/>
                <a:cs typeface="Calibri" pitchFamily="34" charset="-120"/>
              </a:rPr>
              <a:t>SHAP by construction</a:t>
            </a:r>
            <a:endParaRPr lang="en-US" sz="1500" dirty="0"/>
          </a:p>
        </p:txBody>
      </p:sp>
      <p:sp>
        <p:nvSpPr>
          <p:cNvPr id="32" name="Text 30"/>
          <p:cNvSpPr txBox="1"/>
          <p:nvPr/>
        </p:nvSpPr>
        <p:spPr>
          <a:xfrm>
            <a:off x="7269480" y="2788920"/>
            <a:ext cx="4343400" cy="502920"/>
          </a:xfrm>
          <a:prstGeom prst="rect">
            <a:avLst/>
          </a:prstGeom>
          <a:noFill/>
          <a:ln/>
        </p:spPr>
        <p:txBody>
          <a:bodyPr wrap="square" lIns="0" tIns="0" rIns="0" bIns="0" rtlCol="0" anchor="ctr"/>
          <a:lstStyle/>
          <a:p>
            <a:pPr indent="0" marL="0">
              <a:buNone/>
            </a:pPr>
            <a:r>
              <a:rPr lang="en-US" sz="1200" dirty="0">
                <a:solidFill>
                  <a:srgbClr val="5C5C5C"/>
                </a:solidFill>
                <a:latin typeface="Calibri" pitchFamily="34" charset="0"/>
                <a:ea typeface="Calibri" pitchFamily="34" charset="-122"/>
                <a:cs typeface="Calibri" pitchFamily="34" charset="-120"/>
              </a:rPr>
              <a:t>The additive scorecard makes each contribution an exact SHAP value.</a:t>
            </a:r>
            <a:endParaRPr lang="en-US" sz="1200" dirty="0"/>
          </a:p>
        </p:txBody>
      </p:sp>
      <p:sp>
        <p:nvSpPr>
          <p:cNvPr id="33" name="Shape 31"/>
          <p:cNvSpPr/>
          <p:nvPr/>
        </p:nvSpPr>
        <p:spPr>
          <a:xfrm>
            <a:off x="6400800" y="3483864"/>
            <a:ext cx="5330952" cy="1097280"/>
          </a:xfrm>
          <a:prstGeom prst="roundRect">
            <a:avLst>
              <a:gd name="adj" fmla="val 6667"/>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34" name="Shape 32"/>
          <p:cNvSpPr/>
          <p:nvPr/>
        </p:nvSpPr>
        <p:spPr>
          <a:xfrm>
            <a:off x="6629400" y="3776472"/>
            <a:ext cx="502920" cy="502920"/>
          </a:xfrm>
          <a:prstGeom prst="roundRect">
            <a:avLst>
              <a:gd name="adj" fmla="val 18182"/>
            </a:avLst>
          </a:prstGeom>
          <a:solidFill>
            <a:srgbClr val="FFC220"/>
          </a:solidFill>
          <a:ln/>
        </p:spPr>
      </p:sp>
      <p:sp>
        <p:nvSpPr>
          <p:cNvPr id="35" name="Text 33"/>
          <p:cNvSpPr txBox="1"/>
          <p:nvPr/>
        </p:nvSpPr>
        <p:spPr>
          <a:xfrm>
            <a:off x="6629400" y="3776472"/>
            <a:ext cx="502920" cy="502920"/>
          </a:xfrm>
          <a:prstGeom prst="rect">
            <a:avLst/>
          </a:prstGeom>
          <a:noFill/>
          <a:ln/>
        </p:spPr>
        <p:txBody>
          <a:bodyPr wrap="square" lIns="0" tIns="0" rIns="0" bIns="0" rtlCol="0" anchor="ctr"/>
          <a:lstStyle/>
          <a:p>
            <a:pPr algn="ctr" indent="0" marL="0">
              <a:buNone/>
            </a:pPr>
            <a:r>
              <a:rPr lang="en-US" sz="1800" b="1" dirty="0">
                <a:solidFill>
                  <a:srgbClr val="333333"/>
                </a:solidFill>
                <a:latin typeface="Calibri" pitchFamily="34" charset="0"/>
                <a:ea typeface="Calibri" pitchFamily="34" charset="-122"/>
                <a:cs typeface="Calibri" pitchFamily="34" charset="-120"/>
              </a:rPr>
              <a:t>2</a:t>
            </a:r>
            <a:endParaRPr lang="en-US" sz="1800" dirty="0"/>
          </a:p>
        </p:txBody>
      </p:sp>
      <p:sp>
        <p:nvSpPr>
          <p:cNvPr id="36" name="Text 34"/>
          <p:cNvSpPr txBox="1"/>
          <p:nvPr/>
        </p:nvSpPr>
        <p:spPr>
          <a:xfrm>
            <a:off x="7269480" y="3666744"/>
            <a:ext cx="4297680" cy="365760"/>
          </a:xfrm>
          <a:prstGeom prst="rect">
            <a:avLst/>
          </a:prstGeom>
          <a:noFill/>
          <a:ln/>
        </p:spPr>
        <p:txBody>
          <a:bodyPr wrap="square" lIns="0" tIns="0" rIns="0" bIns="0" rtlCol="0" anchor="ctr"/>
          <a:lstStyle/>
          <a:p>
            <a:pPr indent="0" marL="0">
              <a:buNone/>
            </a:pPr>
            <a:r>
              <a:rPr lang="en-US" sz="1500" b="1" dirty="0">
                <a:solidFill>
                  <a:srgbClr val="333333"/>
                </a:solidFill>
                <a:latin typeface="Calibri" pitchFamily="34" charset="0"/>
                <a:ea typeface="Calibri" pitchFamily="34" charset="-122"/>
                <a:cs typeface="Calibri" pitchFamily="34" charset="-120"/>
              </a:rPr>
              <a:t>Counterfactual recourse</a:t>
            </a:r>
            <a:endParaRPr lang="en-US" sz="1500" dirty="0"/>
          </a:p>
        </p:txBody>
      </p:sp>
      <p:sp>
        <p:nvSpPr>
          <p:cNvPr id="37" name="Text 35"/>
          <p:cNvSpPr txBox="1"/>
          <p:nvPr/>
        </p:nvSpPr>
        <p:spPr>
          <a:xfrm>
            <a:off x="7269480" y="4032504"/>
            <a:ext cx="4343400" cy="502920"/>
          </a:xfrm>
          <a:prstGeom prst="rect">
            <a:avLst/>
          </a:prstGeom>
          <a:noFill/>
          <a:ln/>
        </p:spPr>
        <p:txBody>
          <a:bodyPr wrap="square" lIns="0" tIns="0" rIns="0" bIns="0" rtlCol="0" anchor="ctr"/>
          <a:lstStyle/>
          <a:p>
            <a:pPr indent="0" marL="0">
              <a:buNone/>
            </a:pPr>
            <a:r>
              <a:rPr lang="en-US" sz="1200" dirty="0">
                <a:solidFill>
                  <a:srgbClr val="5C5C5C"/>
                </a:solidFill>
                <a:latin typeface="Calibri" pitchFamily="34" charset="0"/>
                <a:ea typeface="Calibri" pitchFamily="34" charset="-122"/>
                <a:cs typeface="Calibri" pitchFamily="34" charset="-120"/>
              </a:rPr>
              <a:t>Finds the minimal feasible changes to reach approval, holding immutable features fixed.</a:t>
            </a:r>
            <a:endParaRPr lang="en-US" sz="1200" dirty="0"/>
          </a:p>
        </p:txBody>
      </p:sp>
      <p:sp>
        <p:nvSpPr>
          <p:cNvPr id="38" name="Shape 36"/>
          <p:cNvSpPr/>
          <p:nvPr/>
        </p:nvSpPr>
        <p:spPr>
          <a:xfrm>
            <a:off x="6400800" y="4727448"/>
            <a:ext cx="5330952" cy="1097280"/>
          </a:xfrm>
          <a:prstGeom prst="roundRect">
            <a:avLst>
              <a:gd name="adj" fmla="val 6667"/>
            </a:avLst>
          </a:prstGeom>
          <a:solidFill>
            <a:srgbClr val="FFFFFF"/>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39" name="Shape 37"/>
          <p:cNvSpPr/>
          <p:nvPr/>
        </p:nvSpPr>
        <p:spPr>
          <a:xfrm>
            <a:off x="6629400" y="5020056"/>
            <a:ext cx="502920" cy="502920"/>
          </a:xfrm>
          <a:prstGeom prst="roundRect">
            <a:avLst>
              <a:gd name="adj" fmla="val 18182"/>
            </a:avLst>
          </a:prstGeom>
          <a:solidFill>
            <a:srgbClr val="FFC220"/>
          </a:solidFill>
          <a:ln/>
        </p:spPr>
      </p:sp>
      <p:sp>
        <p:nvSpPr>
          <p:cNvPr id="40" name="Text 38"/>
          <p:cNvSpPr txBox="1"/>
          <p:nvPr/>
        </p:nvSpPr>
        <p:spPr>
          <a:xfrm>
            <a:off x="6629400" y="5020056"/>
            <a:ext cx="502920" cy="502920"/>
          </a:xfrm>
          <a:prstGeom prst="rect">
            <a:avLst/>
          </a:prstGeom>
          <a:noFill/>
          <a:ln/>
        </p:spPr>
        <p:txBody>
          <a:bodyPr wrap="square" lIns="0" tIns="0" rIns="0" bIns="0" rtlCol="0" anchor="ctr"/>
          <a:lstStyle/>
          <a:p>
            <a:pPr algn="ctr" indent="0" marL="0">
              <a:buNone/>
            </a:pPr>
            <a:r>
              <a:rPr lang="en-US" sz="1800" b="1" dirty="0">
                <a:solidFill>
                  <a:srgbClr val="333333"/>
                </a:solidFill>
                <a:latin typeface="Calibri" pitchFamily="34" charset="0"/>
                <a:ea typeface="Calibri" pitchFamily="34" charset="-122"/>
                <a:cs typeface="Calibri" pitchFamily="34" charset="-120"/>
              </a:rPr>
              <a:t>3</a:t>
            </a:r>
            <a:endParaRPr lang="en-US" sz="1800" dirty="0"/>
          </a:p>
        </p:txBody>
      </p:sp>
      <p:sp>
        <p:nvSpPr>
          <p:cNvPr id="41" name="Text 39"/>
          <p:cNvSpPr txBox="1"/>
          <p:nvPr/>
        </p:nvSpPr>
        <p:spPr>
          <a:xfrm>
            <a:off x="7269480" y="4910328"/>
            <a:ext cx="4297680" cy="365760"/>
          </a:xfrm>
          <a:prstGeom prst="rect">
            <a:avLst/>
          </a:prstGeom>
          <a:noFill/>
          <a:ln/>
        </p:spPr>
        <p:txBody>
          <a:bodyPr wrap="square" lIns="0" tIns="0" rIns="0" bIns="0" rtlCol="0" anchor="ctr"/>
          <a:lstStyle/>
          <a:p>
            <a:pPr indent="0" marL="0">
              <a:buNone/>
            </a:pPr>
            <a:r>
              <a:rPr lang="en-US" sz="1500" b="1" dirty="0">
                <a:solidFill>
                  <a:srgbClr val="333333"/>
                </a:solidFill>
                <a:latin typeface="Calibri" pitchFamily="34" charset="0"/>
                <a:ea typeface="Calibri" pitchFamily="34" charset="-122"/>
                <a:cs typeface="Calibri" pitchFamily="34" charset="-120"/>
              </a:rPr>
              <a:t>Plain-language rationale</a:t>
            </a:r>
            <a:endParaRPr lang="en-US" sz="1500" dirty="0"/>
          </a:p>
        </p:txBody>
      </p:sp>
      <p:sp>
        <p:nvSpPr>
          <p:cNvPr id="42" name="Text 40"/>
          <p:cNvSpPr txBox="1"/>
          <p:nvPr/>
        </p:nvSpPr>
        <p:spPr>
          <a:xfrm>
            <a:off x="7269480" y="5276088"/>
            <a:ext cx="4343400" cy="502920"/>
          </a:xfrm>
          <a:prstGeom prst="rect">
            <a:avLst/>
          </a:prstGeom>
          <a:noFill/>
          <a:ln/>
        </p:spPr>
        <p:txBody>
          <a:bodyPr wrap="square" lIns="0" tIns="0" rIns="0" bIns="0" rtlCol="0" anchor="ctr"/>
          <a:lstStyle/>
          <a:p>
            <a:pPr indent="0" marL="0">
              <a:buNone/>
            </a:pPr>
            <a:r>
              <a:rPr lang="en-US" sz="1200" dirty="0">
                <a:solidFill>
                  <a:srgbClr val="5C5C5C"/>
                </a:solidFill>
                <a:latin typeface="Calibri" pitchFamily="34" charset="0"/>
                <a:ea typeface="Calibri" pitchFamily="34" charset="-122"/>
                <a:cs typeface="Calibri" pitchFamily="34" charset="-120"/>
              </a:rPr>
              <a:t>Bedrock turns the numbers into a compliant adverse action explanation.</a:t>
            </a:r>
            <a:endParaRPr lang="en-US" sz="1200" dirty="0"/>
          </a:p>
        </p:txBody>
      </p:sp>
      <p:sp>
        <p:nvSpPr>
          <p:cNvPr id="43" name="Text 41"/>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5C5C5C"/>
                </a:solidFill>
                <a:latin typeface="Calibri" pitchFamily="34" charset="0"/>
                <a:ea typeface="Calibri" pitchFamily="34" charset="-122"/>
                <a:cs typeface="Calibri" pitchFamily="34" charset="-120"/>
              </a:rPr>
              <a:t>Synchrony Financial Inclusion</a:t>
            </a:r>
            <a:endParaRPr lang="en-US" sz="900" dirty="0"/>
          </a:p>
        </p:txBody>
      </p:sp>
      <p:sp>
        <p:nvSpPr>
          <p:cNvPr id="44" name="Text 42"/>
          <p:cNvSpPr txBox="1"/>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5C5C5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84048" cy="384048"/>
          </a:xfrm>
          <a:prstGeom prst="roundRect">
            <a:avLst>
              <a:gd name="adj" fmla="val 16667"/>
            </a:avLst>
          </a:prstGeom>
          <a:solidFill>
            <a:srgbClr val="FFC220"/>
          </a:solidFill>
          <a:ln/>
        </p:spPr>
      </p:sp>
      <p:sp>
        <p:nvSpPr>
          <p:cNvPr id="3" name="Text 1"/>
          <p:cNvSpPr txBox="1"/>
          <p:nvPr/>
        </p:nvSpPr>
        <p:spPr>
          <a:xfrm>
            <a:off x="457200" y="36576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4" name="Text 2"/>
          <p:cNvSpPr txBox="1"/>
          <p:nvPr/>
        </p:nvSpPr>
        <p:spPr>
          <a:xfrm>
            <a:off x="914400" y="365760"/>
            <a:ext cx="5486400" cy="38404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5" name="Text 3"/>
          <p:cNvSpPr txBox="1"/>
          <p:nvPr/>
        </p:nvSpPr>
        <p:spPr>
          <a:xfrm>
            <a:off x="457200" y="1051560"/>
            <a:ext cx="10972800" cy="27432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REGULATORY COMPLIANCE AND FAIRNESS</a:t>
            </a:r>
            <a:endParaRPr lang="en-US" sz="1200" dirty="0"/>
          </a:p>
        </p:txBody>
      </p:sp>
      <p:sp>
        <p:nvSpPr>
          <p:cNvPr id="6" name="Text 4"/>
          <p:cNvSpPr txBox="1"/>
          <p:nvPr/>
        </p:nvSpPr>
        <p:spPr>
          <a:xfrm>
            <a:off x="457200" y="1280160"/>
            <a:ext cx="11247120" cy="731520"/>
          </a:xfrm>
          <a:prstGeom prst="rect">
            <a:avLst/>
          </a:prstGeom>
          <a:noFill/>
          <a:ln/>
        </p:spPr>
        <p:txBody>
          <a:bodyPr wrap="square" lIns="0" tIns="0" rIns="0" bIns="0" rtlCol="0" anchor="ctr"/>
          <a:lstStyle/>
          <a:p>
            <a:pPr indent="0" marL="0">
              <a:buNone/>
            </a:pPr>
            <a:r>
              <a:rPr lang="en-US" sz="3400" b="1" dirty="0">
                <a:solidFill>
                  <a:srgbClr val="333333"/>
                </a:solidFill>
                <a:latin typeface="Calibri" pitchFamily="34" charset="0"/>
                <a:ea typeface="Calibri" pitchFamily="34" charset="-122"/>
                <a:cs typeface="Calibri" pitchFamily="34" charset="-120"/>
              </a:rPr>
              <a:t>Minimizing bias and protecting privacy</a:t>
            </a:r>
            <a:endParaRPr lang="en-US" sz="3400" dirty="0"/>
          </a:p>
        </p:txBody>
      </p:sp>
      <p:sp>
        <p:nvSpPr>
          <p:cNvPr id="7" name="Shape 5"/>
          <p:cNvSpPr/>
          <p:nvPr/>
        </p:nvSpPr>
        <p:spPr>
          <a:xfrm>
            <a:off x="457200" y="2240280"/>
            <a:ext cx="3566160" cy="1371600"/>
          </a:xfrm>
          <a:prstGeom prst="roundRect">
            <a:avLst>
              <a:gd name="adj" fmla="val 5333"/>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8" name="Text 6"/>
          <p:cNvSpPr txBox="1"/>
          <p:nvPr/>
        </p:nvSpPr>
        <p:spPr>
          <a:xfrm>
            <a:off x="731520" y="2377440"/>
            <a:ext cx="3017520" cy="640080"/>
          </a:xfrm>
          <a:prstGeom prst="rect">
            <a:avLst/>
          </a:prstGeom>
          <a:noFill/>
          <a:ln/>
        </p:spPr>
        <p:txBody>
          <a:bodyPr wrap="square" lIns="0" tIns="0" rIns="0" bIns="0" rtlCol="0" anchor="ctr"/>
          <a:lstStyle/>
          <a:p>
            <a:pPr indent="0" marL="0">
              <a:buNone/>
            </a:pPr>
            <a:r>
              <a:rPr lang="en-US" sz="3000" b="1" dirty="0">
                <a:solidFill>
                  <a:srgbClr val="E0A800"/>
                </a:solidFill>
                <a:latin typeface="Calibri" pitchFamily="34" charset="0"/>
                <a:ea typeface="Calibri" pitchFamily="34" charset="-122"/>
                <a:cs typeface="Calibri" pitchFamily="34" charset="-120"/>
              </a:rPr>
              <a:t>DPR</a:t>
            </a:r>
            <a:endParaRPr lang="en-US" sz="3000" dirty="0"/>
          </a:p>
        </p:txBody>
      </p:sp>
      <p:sp>
        <p:nvSpPr>
          <p:cNvPr id="9" name="Text 7"/>
          <p:cNvSpPr txBox="1"/>
          <p:nvPr/>
        </p:nvSpPr>
        <p:spPr>
          <a:xfrm>
            <a:off x="731520" y="3063240"/>
            <a:ext cx="3108960" cy="45720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Demographic Parity Ratio</a:t>
            </a:r>
            <a:endParaRPr lang="en-US" sz="1250" dirty="0"/>
          </a:p>
        </p:txBody>
      </p:sp>
      <p:sp>
        <p:nvSpPr>
          <p:cNvPr id="10" name="Shape 8"/>
          <p:cNvSpPr/>
          <p:nvPr/>
        </p:nvSpPr>
        <p:spPr>
          <a:xfrm>
            <a:off x="4251960" y="2240280"/>
            <a:ext cx="3566160" cy="1371600"/>
          </a:xfrm>
          <a:prstGeom prst="roundRect">
            <a:avLst>
              <a:gd name="adj" fmla="val 5333"/>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1" name="Text 9"/>
          <p:cNvSpPr txBox="1"/>
          <p:nvPr/>
        </p:nvSpPr>
        <p:spPr>
          <a:xfrm>
            <a:off x="4526280" y="2377440"/>
            <a:ext cx="3017520" cy="640080"/>
          </a:xfrm>
          <a:prstGeom prst="rect">
            <a:avLst/>
          </a:prstGeom>
          <a:noFill/>
          <a:ln/>
        </p:spPr>
        <p:txBody>
          <a:bodyPr wrap="square" lIns="0" tIns="0" rIns="0" bIns="0" rtlCol="0" anchor="ctr"/>
          <a:lstStyle/>
          <a:p>
            <a:pPr indent="0" marL="0">
              <a:buNone/>
            </a:pPr>
            <a:r>
              <a:rPr lang="en-US" sz="3000" b="1" dirty="0">
                <a:solidFill>
                  <a:srgbClr val="E0A800"/>
                </a:solidFill>
                <a:latin typeface="Calibri" pitchFamily="34" charset="0"/>
                <a:ea typeface="Calibri" pitchFamily="34" charset="-122"/>
                <a:cs typeface="Calibri" pitchFamily="34" charset="-120"/>
              </a:rPr>
              <a:t>EOD</a:t>
            </a:r>
            <a:endParaRPr lang="en-US" sz="3000" dirty="0"/>
          </a:p>
        </p:txBody>
      </p:sp>
      <p:sp>
        <p:nvSpPr>
          <p:cNvPr id="12" name="Text 10"/>
          <p:cNvSpPr txBox="1"/>
          <p:nvPr/>
        </p:nvSpPr>
        <p:spPr>
          <a:xfrm>
            <a:off x="4526280" y="3063240"/>
            <a:ext cx="3108960" cy="45720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Equal Opportunity Difference</a:t>
            </a:r>
            <a:endParaRPr lang="en-US" sz="1250" dirty="0"/>
          </a:p>
        </p:txBody>
      </p:sp>
      <p:sp>
        <p:nvSpPr>
          <p:cNvPr id="13" name="Shape 11"/>
          <p:cNvSpPr/>
          <p:nvPr/>
        </p:nvSpPr>
        <p:spPr>
          <a:xfrm>
            <a:off x="8046720" y="2240280"/>
            <a:ext cx="3566160" cy="1371600"/>
          </a:xfrm>
          <a:prstGeom prst="roundRect">
            <a:avLst>
              <a:gd name="adj" fmla="val 5333"/>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4" name="Text 12"/>
          <p:cNvSpPr txBox="1"/>
          <p:nvPr/>
        </p:nvSpPr>
        <p:spPr>
          <a:xfrm>
            <a:off x="8321040" y="2377440"/>
            <a:ext cx="3017520" cy="640080"/>
          </a:xfrm>
          <a:prstGeom prst="rect">
            <a:avLst/>
          </a:prstGeom>
          <a:noFill/>
          <a:ln/>
        </p:spPr>
        <p:txBody>
          <a:bodyPr wrap="square" lIns="0" tIns="0" rIns="0" bIns="0" rtlCol="0" anchor="ctr"/>
          <a:lstStyle/>
          <a:p>
            <a:pPr indent="0" marL="0">
              <a:buNone/>
            </a:pPr>
            <a:r>
              <a:rPr lang="en-US" sz="3000" b="1" dirty="0">
                <a:solidFill>
                  <a:srgbClr val="E0A800"/>
                </a:solidFill>
                <a:latin typeface="Calibri" pitchFamily="34" charset="0"/>
                <a:ea typeface="Calibri" pitchFamily="34" charset="-122"/>
                <a:cs typeface="Calibri" pitchFamily="34" charset="-120"/>
              </a:rPr>
              <a:t>DIR</a:t>
            </a:r>
            <a:endParaRPr lang="en-US" sz="3000" dirty="0"/>
          </a:p>
        </p:txBody>
      </p:sp>
      <p:sp>
        <p:nvSpPr>
          <p:cNvPr id="15" name="Text 13"/>
          <p:cNvSpPr txBox="1"/>
          <p:nvPr/>
        </p:nvSpPr>
        <p:spPr>
          <a:xfrm>
            <a:off x="8321040" y="3063240"/>
            <a:ext cx="3108960" cy="457200"/>
          </a:xfrm>
          <a:prstGeom prst="rect">
            <a:avLst/>
          </a:prstGeom>
          <a:noFill/>
          <a:ln/>
        </p:spPr>
        <p:txBody>
          <a:bodyPr wrap="square" lIns="0" tIns="0" rIns="0" bIns="0" rtlCol="0" anchor="ctr"/>
          <a:lstStyle/>
          <a:p>
            <a:pPr indent="0" marL="0">
              <a:buNone/>
            </a:pPr>
            <a:r>
              <a:rPr lang="en-US" sz="1250" dirty="0">
                <a:solidFill>
                  <a:srgbClr val="5C5C5C"/>
                </a:solidFill>
                <a:latin typeface="Calibri" pitchFamily="34" charset="0"/>
                <a:ea typeface="Calibri" pitchFamily="34" charset="-122"/>
                <a:cs typeface="Calibri" pitchFamily="34" charset="-120"/>
              </a:rPr>
              <a:t>Disparate Impact Ratio</a:t>
            </a:r>
            <a:endParaRPr lang="en-US" sz="1250" dirty="0"/>
          </a:p>
        </p:txBody>
      </p:sp>
      <p:sp>
        <p:nvSpPr>
          <p:cNvPr id="16" name="Shape 14"/>
          <p:cNvSpPr/>
          <p:nvPr/>
        </p:nvSpPr>
        <p:spPr>
          <a:xfrm>
            <a:off x="457200" y="3794760"/>
            <a:ext cx="5394960" cy="2057400"/>
          </a:xfrm>
          <a:prstGeom prst="roundRect">
            <a:avLst>
              <a:gd name="adj" fmla="val 3556"/>
            </a:avLst>
          </a:prstGeom>
          <a:solidFill>
            <a:srgbClr val="333333"/>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17" name="Text 15"/>
          <p:cNvSpPr txBox="1"/>
          <p:nvPr/>
        </p:nvSpPr>
        <p:spPr>
          <a:xfrm>
            <a:off x="731520" y="3977640"/>
            <a:ext cx="4846320" cy="365760"/>
          </a:xfrm>
          <a:prstGeom prst="rect">
            <a:avLst/>
          </a:prstGeom>
          <a:noFill/>
          <a:ln/>
        </p:spPr>
        <p:txBody>
          <a:bodyPr wrap="square" lIns="0" tIns="0" rIns="0" bIns="0" rtlCol="0" anchor="ctr"/>
          <a:lstStyle/>
          <a:p>
            <a:pPr indent="0" marL="0">
              <a:buNone/>
            </a:pPr>
            <a:r>
              <a:rPr lang="en-US" sz="1600" b="1" dirty="0">
                <a:solidFill>
                  <a:srgbClr val="FFC220"/>
                </a:solidFill>
                <a:latin typeface="Calibri" pitchFamily="34" charset="0"/>
                <a:ea typeface="Calibri" pitchFamily="34" charset="-122"/>
                <a:cs typeface="Calibri" pitchFamily="34" charset="-120"/>
              </a:rPr>
              <a:t>Four fifths rule</a:t>
            </a:r>
            <a:endParaRPr lang="en-US" sz="1600" dirty="0"/>
          </a:p>
        </p:txBody>
      </p:sp>
      <p:sp>
        <p:nvSpPr>
          <p:cNvPr id="18" name="Text 16"/>
          <p:cNvSpPr txBox="1"/>
          <p:nvPr/>
        </p:nvSpPr>
        <p:spPr>
          <a:xfrm>
            <a:off x="731520" y="4343400"/>
            <a:ext cx="4846320" cy="9144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0.80</a:t>
            </a:r>
            <a:endParaRPr lang="en-US" sz="5200" dirty="0"/>
          </a:p>
        </p:txBody>
      </p:sp>
      <p:sp>
        <p:nvSpPr>
          <p:cNvPr id="19" name="Text 17"/>
          <p:cNvSpPr txBox="1"/>
          <p:nvPr/>
        </p:nvSpPr>
        <p:spPr>
          <a:xfrm>
            <a:off x="731520" y="5303520"/>
            <a:ext cx="4937760" cy="457200"/>
          </a:xfrm>
          <a:prstGeom prst="rect">
            <a:avLst/>
          </a:prstGeom>
          <a:noFill/>
          <a:ln/>
        </p:spPr>
        <p:txBody>
          <a:bodyPr wrap="square" lIns="0" tIns="0" rIns="0" bIns="0" rtlCol="0" anchor="ctr"/>
          <a:lstStyle/>
          <a:p>
            <a:pPr indent="0" marL="0">
              <a:buNone/>
            </a:pPr>
            <a:r>
              <a:rPr lang="en-US" sz="1250" dirty="0">
                <a:solidFill>
                  <a:srgbClr val="D7D7D7"/>
                </a:solidFill>
                <a:latin typeface="Calibri" pitchFamily="34" charset="0"/>
                <a:ea typeface="Calibri" pitchFamily="34" charset="-122"/>
                <a:cs typeface="Calibri" pitchFamily="34" charset="-120"/>
              </a:rPr>
              <a:t>Any monitored group below this ratio is flagged for threshold recalibration.</a:t>
            </a:r>
            <a:endParaRPr lang="en-US" sz="1250" dirty="0"/>
          </a:p>
        </p:txBody>
      </p:sp>
      <p:sp>
        <p:nvSpPr>
          <p:cNvPr id="20" name="Shape 18"/>
          <p:cNvSpPr/>
          <p:nvPr/>
        </p:nvSpPr>
        <p:spPr>
          <a:xfrm>
            <a:off x="6035040" y="3794760"/>
            <a:ext cx="5696712" cy="2057400"/>
          </a:xfrm>
          <a:prstGeom prst="roundRect">
            <a:avLst>
              <a:gd name="adj" fmla="val 3556"/>
            </a:avLst>
          </a:prstGeom>
          <a:solidFill>
            <a:srgbClr val="F4F4F4"/>
          </a:solidFill>
          <a:ln w="12700">
            <a:solidFill>
              <a:srgbClr val="E6E6E6"/>
            </a:solidFill>
            <a:prstDash val="solid"/>
          </a:ln>
          <a:effectLst>
            <a:outerShdw sx="100000" sy="100000" kx="0" ky="0" algn="bl" rotWithShape="0" blurRad="76200" dist="25400" dir="5400000">
              <a:srgbClr val="999999">
                <a:alpha val="35000"/>
              </a:srgbClr>
            </a:outerShdw>
          </a:effectLst>
        </p:spPr>
      </p:sp>
      <p:sp>
        <p:nvSpPr>
          <p:cNvPr id="21" name="Text 19"/>
          <p:cNvSpPr txBox="1"/>
          <p:nvPr/>
        </p:nvSpPr>
        <p:spPr>
          <a:xfrm>
            <a:off x="6263640" y="3977640"/>
            <a:ext cx="5257800" cy="1737360"/>
          </a:xfrm>
          <a:prstGeom prst="rect">
            <a:avLst/>
          </a:prstGeom>
          <a:noFill/>
          <a:ln/>
        </p:spPr>
        <p:txBody>
          <a:bodyPr wrap="square" lIns="0" tIns="0" rIns="0" bIns="0" rtlCol="0" anchor="t"/>
          <a:lstStyle/>
          <a:p>
            <a:pPr marL="190500" indent="-1905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Adverse action notices meet ECOA, Regulation B and CFPB Circular 2022-03.</a:t>
            </a:r>
            <a:endParaRPr lang="en-US" sz="1250" dirty="0"/>
          </a:p>
          <a:p>
            <a:pPr marL="190500" indent="-1905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Protected attributes are screened out of scoring.</a:t>
            </a:r>
            <a:endParaRPr lang="en-US" sz="1250" dirty="0"/>
          </a:p>
          <a:p>
            <a:pPr marL="190500" indent="-1905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PII anonymized before LLM processing.</a:t>
            </a:r>
            <a:endParaRPr lang="en-US" sz="1250" dirty="0"/>
          </a:p>
          <a:p>
            <a:pPr marL="190500" indent="-190500">
              <a:spcAft>
                <a:spcPts val="600"/>
              </a:spcAft>
              <a:buSzPct val="100000"/>
              <a:buChar char="•"/>
            </a:pPr>
            <a:r>
              <a:rPr lang="en-US" sz="1250" dirty="0">
                <a:solidFill>
                  <a:srgbClr val="333333"/>
                </a:solidFill>
                <a:latin typeface="Calibri" pitchFamily="34" charset="0"/>
                <a:ea typeface="Calibri" pitchFamily="34" charset="-122"/>
                <a:cs typeface="Calibri" pitchFamily="34" charset="-120"/>
              </a:rPr>
              <a:t>Append-only audit log with SHA-256 payload hashing.</a:t>
            </a:r>
            <a:endParaRPr lang="en-US" sz="1250" dirty="0"/>
          </a:p>
        </p:txBody>
      </p:sp>
      <p:sp>
        <p:nvSpPr>
          <p:cNvPr id="22" name="Text 20"/>
          <p:cNvSpPr txBox="1"/>
          <p:nvPr/>
        </p:nvSpPr>
        <p:spPr>
          <a:xfrm>
            <a:off x="457200" y="6446520"/>
            <a:ext cx="5486400" cy="274320"/>
          </a:xfrm>
          <a:prstGeom prst="rect">
            <a:avLst/>
          </a:prstGeom>
          <a:noFill/>
          <a:ln/>
        </p:spPr>
        <p:txBody>
          <a:bodyPr wrap="square" lIns="0" tIns="0" rIns="0" bIns="0" rtlCol="0" anchor="ctr"/>
          <a:lstStyle/>
          <a:p>
            <a:pPr indent="0" marL="0">
              <a:buNone/>
            </a:pPr>
            <a:r>
              <a:rPr lang="en-US" sz="900" dirty="0">
                <a:solidFill>
                  <a:srgbClr val="5C5C5C"/>
                </a:solidFill>
                <a:latin typeface="Calibri" pitchFamily="34" charset="0"/>
                <a:ea typeface="Calibri" pitchFamily="34" charset="-122"/>
                <a:cs typeface="Calibri" pitchFamily="34" charset="-120"/>
              </a:rPr>
              <a:t>Synchrony Financial Inclusion</a:t>
            </a:r>
            <a:endParaRPr lang="en-US" sz="900" dirty="0"/>
          </a:p>
        </p:txBody>
      </p:sp>
      <p:sp>
        <p:nvSpPr>
          <p:cNvPr id="23" name="Text 21"/>
          <p:cNvSpPr txBox="1"/>
          <p:nvPr/>
        </p:nvSpPr>
        <p:spPr>
          <a:xfrm>
            <a:off x="11430000" y="6446520"/>
            <a:ext cx="365760" cy="274320"/>
          </a:xfrm>
          <a:prstGeom prst="rect">
            <a:avLst/>
          </a:prstGeom>
          <a:noFill/>
          <a:ln/>
        </p:spPr>
        <p:txBody>
          <a:bodyPr wrap="square" lIns="0" tIns="0" rIns="0" bIns="0" rtlCol="0" anchor="ctr"/>
          <a:lstStyle/>
          <a:p>
            <a:pPr algn="r" indent="0" marL="0">
              <a:buNone/>
            </a:pPr>
            <a:r>
              <a:rPr lang="en-US" sz="900" dirty="0">
                <a:solidFill>
                  <a:srgbClr val="5C5C5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33333"/>
        </a:solidFill>
      </p:bgPr>
    </p:bg>
    <p:spTree>
      <p:nvGrpSpPr>
        <p:cNvPr id="1" name=""/>
        <p:cNvGrpSpPr/>
        <p:nvPr/>
      </p:nvGrpSpPr>
      <p:grpSpPr>
        <a:xfrm>
          <a:off x="0" y="0"/>
          <a:ext cx="0" cy="0"/>
          <a:chOff x="0" y="0"/>
          <a:chExt cx="0" cy="0"/>
        </a:xfrm>
      </p:grpSpPr>
      <p:sp>
        <p:nvSpPr>
          <p:cNvPr id="2" name="Shape 0"/>
          <p:cNvSpPr/>
          <p:nvPr/>
        </p:nvSpPr>
        <p:spPr>
          <a:xfrm>
            <a:off x="640080" y="457200"/>
            <a:ext cx="384048" cy="384048"/>
          </a:xfrm>
          <a:prstGeom prst="roundRect">
            <a:avLst>
              <a:gd name="adj" fmla="val 16667"/>
            </a:avLst>
          </a:prstGeom>
          <a:solidFill>
            <a:srgbClr val="FFC220"/>
          </a:solidFill>
          <a:ln/>
        </p:spPr>
      </p:sp>
      <p:sp>
        <p:nvSpPr>
          <p:cNvPr id="3" name="Text 1"/>
          <p:cNvSpPr txBox="1"/>
          <p:nvPr/>
        </p:nvSpPr>
        <p:spPr>
          <a:xfrm>
            <a:off x="640080" y="457200"/>
            <a:ext cx="384048" cy="384048"/>
          </a:xfrm>
          <a:prstGeom prst="rect">
            <a:avLst/>
          </a:prstGeom>
          <a:noFill/>
          <a:ln/>
        </p:spPr>
        <p:txBody>
          <a:bodyPr wrap="square" lIns="0" tIns="0" rIns="0" bIns="0" rtlCol="0" anchor="ctr"/>
          <a:lstStyle/>
          <a:p>
            <a:pPr algn="ctr" indent="0" marL="0">
              <a:buNone/>
            </a:pPr>
            <a:r>
              <a:rPr lang="en-US" sz="2000" b="1" dirty="0">
                <a:solidFill>
                  <a:srgbClr val="333333"/>
                </a:solidFill>
                <a:latin typeface="Calibri" pitchFamily="34" charset="0"/>
                <a:ea typeface="Calibri" pitchFamily="34" charset="-122"/>
                <a:cs typeface="Calibri" pitchFamily="34" charset="-120"/>
              </a:rPr>
              <a:t>S</a:t>
            </a:r>
            <a:endParaRPr lang="en-US" sz="2000" dirty="0"/>
          </a:p>
        </p:txBody>
      </p:sp>
      <p:sp>
        <p:nvSpPr>
          <p:cNvPr id="4" name="Text 2"/>
          <p:cNvSpPr txBox="1"/>
          <p:nvPr/>
        </p:nvSpPr>
        <p:spPr>
          <a:xfrm>
            <a:off x="1097280" y="457200"/>
            <a:ext cx="5486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Synchrony </a:t>
            </a:r>
            <a:pPr indent="0" marL="0">
              <a:buNone/>
            </a:pPr>
            <a:r>
              <a:rPr lang="en-US" sz="1300" dirty="0">
                <a:solidFill>
                  <a:srgbClr val="E0A800"/>
                </a:solidFill>
                <a:latin typeface="Calibri" pitchFamily="34" charset="0"/>
                <a:ea typeface="Calibri" pitchFamily="34" charset="-122"/>
                <a:cs typeface="Calibri" pitchFamily="34" charset="-120"/>
              </a:rPr>
              <a:t>Dynamic Risk Assessment</a:t>
            </a:r>
            <a:endParaRPr lang="en-US" sz="1300" dirty="0"/>
          </a:p>
        </p:txBody>
      </p:sp>
      <p:sp>
        <p:nvSpPr>
          <p:cNvPr id="5" name="Text 3"/>
          <p:cNvSpPr txBox="1"/>
          <p:nvPr/>
        </p:nvSpPr>
        <p:spPr>
          <a:xfrm>
            <a:off x="640080" y="1143000"/>
            <a:ext cx="10972800" cy="274320"/>
          </a:xfrm>
          <a:prstGeom prst="rect">
            <a:avLst/>
          </a:prstGeom>
          <a:noFill/>
          <a:ln/>
        </p:spPr>
        <p:txBody>
          <a:bodyPr wrap="square" lIns="0" tIns="0" rIns="0" bIns="0" rtlCol="0" anchor="ctr"/>
          <a:lstStyle/>
          <a:p>
            <a:pPr indent="0" marL="0">
              <a:buNone/>
            </a:pPr>
            <a:r>
              <a:rPr lang="en-US" sz="1200" b="1" spc="200" kern="0" dirty="0">
                <a:solidFill>
                  <a:srgbClr val="FFC220"/>
                </a:solidFill>
                <a:latin typeface="Calibri" pitchFamily="34" charset="0"/>
                <a:ea typeface="Calibri" pitchFamily="34" charset="-122"/>
                <a:cs typeface="Calibri" pitchFamily="34" charset="-120"/>
              </a:rPr>
              <a:t>PROTOTYPE WALKTHROUGH</a:t>
            </a:r>
            <a:endParaRPr lang="en-US" sz="1200" dirty="0"/>
          </a:p>
        </p:txBody>
      </p:sp>
      <p:sp>
        <p:nvSpPr>
          <p:cNvPr id="6" name="Text 4"/>
          <p:cNvSpPr txBox="1"/>
          <p:nvPr/>
        </p:nvSpPr>
        <p:spPr>
          <a:xfrm>
            <a:off x="640080" y="141732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Working software, not slides alone</a:t>
            </a:r>
            <a:endParaRPr lang="en-US" sz="3200" dirty="0"/>
          </a:p>
        </p:txBody>
      </p:sp>
      <p:sp>
        <p:nvSpPr>
          <p:cNvPr id="7" name="Shape 5"/>
          <p:cNvSpPr/>
          <p:nvPr/>
        </p:nvSpPr>
        <p:spPr>
          <a:xfrm>
            <a:off x="640080" y="2468880"/>
            <a:ext cx="5303520" cy="2651760"/>
          </a:xfrm>
          <a:prstGeom prst="roundRect">
            <a:avLst>
              <a:gd name="adj" fmla="val 3448"/>
            </a:avLst>
          </a:prstGeom>
          <a:solidFill>
            <a:srgbClr val="242424"/>
          </a:solidFill>
          <a:ln w="12700">
            <a:solidFill>
              <a:srgbClr val="4A4A4A"/>
            </a:solidFill>
            <a:prstDash val="solid"/>
          </a:ln>
        </p:spPr>
      </p:sp>
      <p:sp>
        <p:nvSpPr>
          <p:cNvPr id="8" name="Shape 6"/>
          <p:cNvSpPr/>
          <p:nvPr/>
        </p:nvSpPr>
        <p:spPr>
          <a:xfrm>
            <a:off x="640080" y="2468880"/>
            <a:ext cx="5303520" cy="685800"/>
          </a:xfrm>
          <a:prstGeom prst="roundRect">
            <a:avLst>
              <a:gd name="adj" fmla="val 13333"/>
            </a:avLst>
          </a:prstGeom>
          <a:solidFill>
            <a:srgbClr val="FFC220"/>
          </a:solidFill>
          <a:ln/>
        </p:spPr>
      </p:sp>
      <p:sp>
        <p:nvSpPr>
          <p:cNvPr id="9" name="Text 7"/>
          <p:cNvSpPr txBox="1"/>
          <p:nvPr/>
        </p:nvSpPr>
        <p:spPr>
          <a:xfrm>
            <a:off x="914400" y="2468880"/>
            <a:ext cx="4846320" cy="685800"/>
          </a:xfrm>
          <a:prstGeom prst="rect">
            <a:avLst/>
          </a:prstGeom>
          <a:noFill/>
          <a:ln/>
        </p:spPr>
        <p:txBody>
          <a:bodyPr wrap="square" lIns="0" tIns="0" rIns="0" bIns="0" rtlCol="0" anchor="ctr"/>
          <a:lstStyle/>
          <a:p>
            <a:pPr indent="0" marL="0">
              <a:buNone/>
            </a:pPr>
            <a:r>
              <a:rPr lang="en-US" sz="1800" b="1" dirty="0">
                <a:solidFill>
                  <a:srgbClr val="333333"/>
                </a:solidFill>
                <a:latin typeface="Calibri" pitchFamily="34" charset="0"/>
                <a:ea typeface="Calibri" pitchFamily="34" charset="-122"/>
                <a:cs typeface="Calibri" pitchFamily="34" charset="-120"/>
              </a:rPr>
              <a:t>Applicant Portal</a:t>
            </a:r>
            <a:endParaRPr lang="en-US" sz="1800" dirty="0"/>
          </a:p>
        </p:txBody>
      </p:sp>
      <p:sp>
        <p:nvSpPr>
          <p:cNvPr id="10" name="Text 8"/>
          <p:cNvSpPr txBox="1"/>
          <p:nvPr/>
        </p:nvSpPr>
        <p:spPr>
          <a:xfrm>
            <a:off x="960120" y="3337560"/>
            <a:ext cx="4754880" cy="164592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rgbClr val="E4E4E4"/>
                </a:solidFill>
                <a:latin typeface="Calibri" pitchFamily="34" charset="0"/>
                <a:ea typeface="Calibri" pitchFamily="34" charset="-122"/>
                <a:cs typeface="Calibri" pitchFamily="34" charset="-120"/>
              </a:rPr>
              <a:t>Link alternative data streams</a:t>
            </a:r>
            <a:endParaRPr lang="en-US" sz="1400" dirty="0"/>
          </a:p>
          <a:p>
            <a:pPr marL="190500" indent="-190500">
              <a:spcAft>
                <a:spcPts val="1000"/>
              </a:spcAft>
              <a:buSzPct val="100000"/>
              <a:buChar char="•"/>
            </a:pPr>
            <a:r>
              <a:rPr lang="en-US" sz="1400" dirty="0">
                <a:solidFill>
                  <a:srgbClr val="E4E4E4"/>
                </a:solidFill>
                <a:latin typeface="Calibri" pitchFamily="34" charset="0"/>
                <a:ea typeface="Calibri" pitchFamily="34" charset="-122"/>
                <a:cs typeface="Calibri" pitchFamily="34" charset="-120"/>
              </a:rPr>
              <a:t>Run dynamic underwriting</a:t>
            </a:r>
            <a:endParaRPr lang="en-US" sz="1400" dirty="0"/>
          </a:p>
          <a:p>
            <a:pPr marL="190500" indent="-190500">
              <a:spcAft>
                <a:spcPts val="1000"/>
              </a:spcAft>
              <a:buSzPct val="100000"/>
              <a:buChar char="•"/>
            </a:pPr>
            <a:r>
              <a:rPr lang="en-US" sz="1400" dirty="0">
                <a:solidFill>
                  <a:srgbClr val="E4E4E4"/>
                </a:solidFill>
                <a:latin typeface="Calibri" pitchFamily="34" charset="0"/>
                <a:ea typeface="Calibri" pitchFamily="34" charset="-122"/>
                <a:cs typeface="Calibri" pitchFamily="34" charset="-120"/>
              </a:rPr>
              <a:t>Read decision, drivers and recourse</a:t>
            </a:r>
            <a:endParaRPr lang="en-US" sz="1400" dirty="0"/>
          </a:p>
        </p:txBody>
      </p:sp>
      <p:sp>
        <p:nvSpPr>
          <p:cNvPr id="11" name="Shape 9"/>
          <p:cNvSpPr/>
          <p:nvPr/>
        </p:nvSpPr>
        <p:spPr>
          <a:xfrm>
            <a:off x="6263640" y="2468880"/>
            <a:ext cx="5303520" cy="2651760"/>
          </a:xfrm>
          <a:prstGeom prst="roundRect">
            <a:avLst>
              <a:gd name="adj" fmla="val 3448"/>
            </a:avLst>
          </a:prstGeom>
          <a:solidFill>
            <a:srgbClr val="242424"/>
          </a:solidFill>
          <a:ln w="12700">
            <a:solidFill>
              <a:srgbClr val="4A4A4A"/>
            </a:solidFill>
            <a:prstDash val="solid"/>
          </a:ln>
        </p:spPr>
      </p:sp>
      <p:sp>
        <p:nvSpPr>
          <p:cNvPr id="12" name="Shape 10"/>
          <p:cNvSpPr/>
          <p:nvPr/>
        </p:nvSpPr>
        <p:spPr>
          <a:xfrm>
            <a:off x="6263640" y="2468880"/>
            <a:ext cx="5303520" cy="685800"/>
          </a:xfrm>
          <a:prstGeom prst="roundRect">
            <a:avLst>
              <a:gd name="adj" fmla="val 13333"/>
            </a:avLst>
          </a:prstGeom>
          <a:solidFill>
            <a:srgbClr val="FFC220"/>
          </a:solidFill>
          <a:ln/>
        </p:spPr>
      </p:sp>
      <p:sp>
        <p:nvSpPr>
          <p:cNvPr id="13" name="Text 11"/>
          <p:cNvSpPr txBox="1"/>
          <p:nvPr/>
        </p:nvSpPr>
        <p:spPr>
          <a:xfrm>
            <a:off x="6537960" y="2468880"/>
            <a:ext cx="4846320" cy="685800"/>
          </a:xfrm>
          <a:prstGeom prst="rect">
            <a:avLst/>
          </a:prstGeom>
          <a:noFill/>
          <a:ln/>
        </p:spPr>
        <p:txBody>
          <a:bodyPr wrap="square" lIns="0" tIns="0" rIns="0" bIns="0" rtlCol="0" anchor="ctr"/>
          <a:lstStyle/>
          <a:p>
            <a:pPr indent="0" marL="0">
              <a:buNone/>
            </a:pPr>
            <a:r>
              <a:rPr lang="en-US" sz="1800" b="1" dirty="0">
                <a:solidFill>
                  <a:srgbClr val="333333"/>
                </a:solidFill>
                <a:latin typeface="Calibri" pitchFamily="34" charset="0"/>
                <a:ea typeface="Calibri" pitchFamily="34" charset="-122"/>
                <a:cs typeface="Calibri" pitchFamily="34" charset="-120"/>
              </a:rPr>
              <a:t>Underwriting Dashboard</a:t>
            </a:r>
            <a:endParaRPr lang="en-US" sz="1800" dirty="0"/>
          </a:p>
        </p:txBody>
      </p:sp>
      <p:sp>
        <p:nvSpPr>
          <p:cNvPr id="14" name="Text 12"/>
          <p:cNvSpPr txBox="1"/>
          <p:nvPr/>
        </p:nvSpPr>
        <p:spPr>
          <a:xfrm>
            <a:off x="6583680" y="3337560"/>
            <a:ext cx="4754880" cy="1645920"/>
          </a:xfrm>
          <a:prstGeom prst="rect">
            <a:avLst/>
          </a:prstGeom>
          <a:noFill/>
          <a:ln/>
        </p:spPr>
        <p:txBody>
          <a:bodyPr wrap="square" lIns="0" tIns="0" rIns="0" bIns="0" rtlCol="0" anchor="t"/>
          <a:lstStyle/>
          <a:p>
            <a:pPr marL="190500" indent="-190500">
              <a:spcAft>
                <a:spcPts val="1000"/>
              </a:spcAft>
              <a:buSzPct val="100000"/>
              <a:buChar char="•"/>
            </a:pPr>
            <a:r>
              <a:rPr lang="en-US" sz="1400" dirty="0">
                <a:solidFill>
                  <a:srgbClr val="E4E4E4"/>
                </a:solidFill>
                <a:latin typeface="Calibri" pitchFamily="34" charset="0"/>
                <a:ea typeface="Calibri" pitchFamily="34" charset="-122"/>
                <a:cs typeface="Calibri" pitchFamily="34" charset="-120"/>
              </a:rPr>
              <a:t>Risk profiles and model weighting</a:t>
            </a:r>
            <a:endParaRPr lang="en-US" sz="1400" dirty="0"/>
          </a:p>
          <a:p>
            <a:pPr marL="190500" indent="-190500">
              <a:spcAft>
                <a:spcPts val="1000"/>
              </a:spcAft>
              <a:buSzPct val="100000"/>
              <a:buChar char="•"/>
            </a:pPr>
            <a:r>
              <a:rPr lang="en-US" sz="1400" dirty="0">
                <a:solidFill>
                  <a:srgbClr val="E4E4E4"/>
                </a:solidFill>
                <a:latin typeface="Calibri" pitchFamily="34" charset="0"/>
                <a:ea typeface="Calibri" pitchFamily="34" charset="-122"/>
                <a:cs typeface="Calibri" pitchFamily="34" charset="-120"/>
              </a:rPr>
              <a:t>Feature attribution and similar cases</a:t>
            </a:r>
            <a:endParaRPr lang="en-US" sz="1400" dirty="0"/>
          </a:p>
          <a:p>
            <a:pPr marL="190500" indent="-190500">
              <a:spcAft>
                <a:spcPts val="1000"/>
              </a:spcAft>
              <a:buSzPct val="100000"/>
              <a:buChar char="•"/>
            </a:pPr>
            <a:r>
              <a:rPr lang="en-US" sz="1400" dirty="0">
                <a:solidFill>
                  <a:srgbClr val="E4E4E4"/>
                </a:solidFill>
                <a:latin typeface="Calibri" pitchFamily="34" charset="0"/>
                <a:ea typeface="Calibri" pitchFamily="34" charset="-122"/>
                <a:cs typeface="Calibri" pitchFamily="34" charset="-120"/>
              </a:rPr>
              <a:t>Manual override with audit trail</a:t>
            </a:r>
            <a:endParaRPr lang="en-US" sz="1400" dirty="0"/>
          </a:p>
        </p:txBody>
      </p:sp>
      <p:sp>
        <p:nvSpPr>
          <p:cNvPr id="15" name="Shape 13"/>
          <p:cNvSpPr/>
          <p:nvPr/>
        </p:nvSpPr>
        <p:spPr>
          <a:xfrm>
            <a:off x="640080" y="5349240"/>
            <a:ext cx="10927080" cy="868680"/>
          </a:xfrm>
          <a:prstGeom prst="roundRect">
            <a:avLst>
              <a:gd name="adj" fmla="val 10526"/>
            </a:avLst>
          </a:prstGeom>
          <a:solidFill>
            <a:srgbClr val="FFC220">
              <a:alpha val="15000"/>
            </a:srgbClr>
          </a:solidFill>
          <a:ln w="12700">
            <a:solidFill>
              <a:srgbClr val="FFC220"/>
            </a:solidFill>
            <a:prstDash val="solid"/>
          </a:ln>
        </p:spPr>
      </p:sp>
      <p:sp>
        <p:nvSpPr>
          <p:cNvPr id="16" name="Text 14"/>
          <p:cNvSpPr txBox="1"/>
          <p:nvPr/>
        </p:nvSpPr>
        <p:spPr>
          <a:xfrm>
            <a:off x="822960" y="5349240"/>
            <a:ext cx="1060704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Every decision is reproducible from the stored features, attribution and audit record.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Financial Inclusion</dc:title>
  <dc:subject>PptxGenJS Presentation</dc:subject>
  <dc:creator>Synchrony</dc:creator>
  <cp:lastModifiedBy>Synchrony</cp:lastModifiedBy>
  <cp:revision>1</cp:revision>
  <dcterms:created xsi:type="dcterms:W3CDTF">2026-09-21T18:05:14Z</dcterms:created>
  <dcterms:modified xsi:type="dcterms:W3CDTF">2026-09-21T18:05:14Z</dcterms:modified>
</cp:coreProperties>
</file>